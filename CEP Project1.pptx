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D88B4F-AF11-E7C5-86CE-E53BD8F3758A}" v="329" dt="2026-10-19T23:37:57.1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dirty="0"/>
              <a:t>
              </a:t>
            </a:r>
          </a:p>
        </p:txBody>
      </p:sp>
      <p:sp>
        <p:nvSpPr>
          <p:cNvPr id="10" name="Picture Placeholder 9">
            <a:extLst>
              <a:ext uri="{FF2B5EF4-FFF2-40B4-BE49-F238E27FC236}">
                <a16:creationId xmlns:a16="http://schemas.microsoft.com/office/drawing/2014/main" id="{884C280F-E753-FE97-A722-F86168AC97B1}"/>
              </a:ext>
            </a:extLst>
          </p:cNvPr>
          <p:cNvSpPr>
            <a:spLocks noGrp="1" noChangeAspect="1"/>
          </p:cNvSpPr>
          <p:nvPr>
            <p:ph type="pic" sz="quarter" idx="13" hasCustomPrompt="1"/>
          </p:nvPr>
        </p:nvSpPr>
        <p:spPr>
          <a:xfrm>
            <a:off x="841248" y="964074"/>
            <a:ext cx="5403280" cy="5258929"/>
          </a:xfrm>
          <a:custGeom>
            <a:avLst/>
            <a:gdLst/>
            <a:ahLst/>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chor="t">
            <a:noAutofit/>
          </a:bodyPr>
          <a:lstStyle>
            <a:lvl1pPr>
              <a:defRPr>
                <a:solidFill>
                  <a:schemeClr val="tx1"/>
                </a:solidFill>
              </a:defRPr>
            </a:lvl1pPr>
          </a:lstStyle>
          <a:p>
            <a:endParaRP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FigureOut">
              <a:rPr lang="en-US" dirty="0"/>
              <a:t>10/19/2026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dirty="0"/>
              <a:pPr/>
              <a:t>‹#›</a:t>
            </a:fld>
            <a:endParaRPr lang="en-US" dirty="0"/>
          </a:p>
        </p:txBody>
      </p:sp>
    </p:spTree>
    <p:extLst>
      <p:ext uri="{BB962C8B-B14F-4D97-AF65-F5344CB8AC3E}">
        <p14:creationId xmlns:p14="http://schemas.microsoft.com/office/powerpoint/2010/main" val="16402230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2993537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
              </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FigureOut">
              <a:rPr lang="en-US" dirty="0"/>
              <a:t>10/19/2026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dirty="0"/>
              <a:t>‹#›</a:t>
            </a:fld>
            <a:endParaRPr lang="en-US" dirty="0"/>
          </a:p>
        </p:txBody>
      </p:sp>
    </p:spTree>
    <p:extLst>
      <p:ext uri="{BB962C8B-B14F-4D97-AF65-F5344CB8AC3E}">
        <p14:creationId xmlns:p14="http://schemas.microsoft.com/office/powerpoint/2010/main" val="23692928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dirty="0"/>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
              </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dirty="0"/>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FigureOut">
              <a:rPr lang="en-US" dirty="0"/>
              <a:t>10/19/2026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dirty="0"/>
              <a:t>‹#›</a:t>
            </a:fld>
            <a:endParaRPr lang="en-US" dirty="0"/>
          </a:p>
        </p:txBody>
      </p:sp>
    </p:spTree>
    <p:extLst>
      <p:ext uri="{BB962C8B-B14F-4D97-AF65-F5344CB8AC3E}">
        <p14:creationId xmlns:p14="http://schemas.microsoft.com/office/powerpoint/2010/main" val="27578762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16108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ahLst/>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81848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Picture Placeholder 7">
            <a:extLst>
              <a:ext uri="{FF2B5EF4-FFF2-40B4-BE49-F238E27FC236}">
                <a16:creationId xmlns:a16="http://schemas.microsoft.com/office/drawing/2014/main" id="{4E5AAB3D-814D-597A-6ADE-F522A8116DCD}"/>
              </a:ext>
            </a:extLst>
          </p:cNvPr>
          <p:cNvSpPr>
            <a:spLocks noGrp="1" noChangeAspect="1"/>
          </p:cNvSpPr>
          <p:nvPr>
            <p:ph type="pic" idx="13" hasCustomPrompt="1"/>
          </p:nvPr>
        </p:nvSpPr>
        <p:spPr>
          <a:xfrm>
            <a:off x="1257301" y="1097280"/>
            <a:ext cx="3776470" cy="3168100"/>
          </a:xfrm>
          <a:custGeom>
            <a:avLst/>
            <a:gdLst/>
            <a:ahLst/>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chor="t">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dirty="0"/>
              <a:pPr/>
              <a:t>‹#›</a:t>
            </a:fld>
            <a:endParaRPr lang="en-US" dirty="0"/>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667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210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8507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0" y="0"/>
            <a:ext cx="8326323" cy="6858000"/>
          </a:xfrm>
          <a:custGeom>
            <a:avLst/>
            <a:gdLst/>
            <a:ahLst/>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chor="t">
            <a:noAutofit/>
          </a:bodyPr>
          <a:lstStyle>
            <a:lvl1pPr marL="0" indent="0">
              <a:buFont typeface="Arial" panose="020B0604020202020204" pitchFamily="34" charset="0"/>
              <a:buNone/>
              <a:defRPr/>
            </a:lvl1pPr>
          </a:lstStyle>
          <a:p>
            <a:endParaRP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dirty="0"/>
              <a:t>
              </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FigureOut">
              <a:rPr lang="en-US" dirty="0"/>
              <a:pPr/>
              <a:t>10/19/2026</a:t>
            </a:fld>
            <a:endParaRPr lang="en-US" dirty="0"/>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dirty="0"/>
              <a:pPr/>
              <a:t>‹#›</a:t>
            </a:fld>
            <a:endParaRPr lang="en-US" dirty="0"/>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8155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FigureOut">
              <a:rPr lang="en-US" dirty="0"/>
              <a:pPr/>
              <a:t>10/19/2026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dirty="0"/>
              <a:t>
              </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3249170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10/19/2026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964464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10/19/2026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2753557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10/19/2026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132729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FigureOut">
              <a:rPr lang="en-US" dirty="0"/>
              <a:pPr/>
              <a:t>10/19/2026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dirty="0"/>
              <a:t>
              </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dirty="0"/>
              <a:pPr/>
              <a:t>‹#›</a:t>
            </a:fld>
            <a:endParaRPr lang="en-US" dirty="0"/>
          </a:p>
        </p:txBody>
      </p:sp>
    </p:spTree>
    <p:extLst>
      <p:ext uri="{BB962C8B-B14F-4D97-AF65-F5344CB8AC3E}">
        <p14:creationId xmlns:p14="http://schemas.microsoft.com/office/powerpoint/2010/main" val="18204730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nchor="t"/>
          <a:lstStyle>
            <a:lvl1pPr>
              <a:defRPr>
                <a:solidFill>
                  <a:schemeClr val="tx1"/>
                </a:solidFill>
              </a:defRPr>
            </a:lvl1pPr>
          </a:lstStyle>
          <a:p>
            <a:endParaRP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FigureOut">
              <a:rPr lang="en-US" dirty="0"/>
              <a:pPr/>
              <a:t>10/19/2026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30783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16" name="Picture Placeholder 15">
            <a:extLst>
              <a:ext uri="{FF2B5EF4-FFF2-40B4-BE49-F238E27FC236}">
                <a16:creationId xmlns:a16="http://schemas.microsoft.com/office/drawing/2014/main" id="{838F5DE0-1AA8-5320-EBEC-7B2EEF399630}"/>
              </a:ext>
            </a:extLst>
          </p:cNvPr>
          <p:cNvSpPr>
            <a:spLocks noGrp="1" noChangeAspect="1"/>
          </p:cNvSpPr>
          <p:nvPr>
            <p:ph type="pic" sz="quarter" idx="13" hasCustomPrompt="1"/>
          </p:nvPr>
        </p:nvSpPr>
        <p:spPr>
          <a:xfrm>
            <a:off x="731520" y="548642"/>
            <a:ext cx="3490175" cy="4041647"/>
          </a:xfrm>
          <a:custGeom>
            <a:avLst/>
            <a:gdLst/>
            <a:ahLst/>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chor="t">
            <a:noAutofit/>
          </a:bodyPr>
          <a:lstStyle>
            <a:lvl1pPr>
              <a:defRPr>
                <a:solidFill>
                  <a:schemeClr val="tx1"/>
                </a:solidFill>
              </a:defRPr>
            </a:lvl1pPr>
          </a:lstStyle>
          <a:p>
            <a:endParaRP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FigureOut">
              <a:rPr lang="en-US" dirty="0"/>
              <a:pPr/>
              <a:t>10/19/2026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0099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dirty="0"/>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dirty="0"/>
              <a:t>
              </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FigureOut">
              <a:rPr lang="en-US" dirty="0"/>
              <a:pPr/>
              <a:t>10/19/2026</a:t>
            </a:fld>
            <a:endParaRPr lang="en-US" dirty="0"/>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dirty="0"/>
              <a:pPr/>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5658927" y="1713653"/>
            <a:ext cx="6533071" cy="5144347"/>
          </a:xfrm>
          <a:custGeom>
            <a:avLst/>
            <a:gdLst/>
            <a:ahLst/>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chor="t">
            <a:noAutofit/>
          </a:bodyPr>
          <a:lstStyle>
            <a:lvl1pPr marL="0" indent="0">
              <a:buFont typeface="Arial" panose="020B0604020202020204" pitchFamily="34" charset="0"/>
              <a:buNone/>
              <a:defRPr lang="en-US" dirty="0"/>
            </a:lvl1pPr>
          </a:lstStyle>
          <a:p>
            <a:pPr marL="285750" lvl="0" indent="-285750"/>
            <a:endParaRPr/>
          </a:p>
        </p:txBody>
      </p:sp>
    </p:spTree>
    <p:extLst>
      <p:ext uri="{BB962C8B-B14F-4D97-AF65-F5344CB8AC3E}">
        <p14:creationId xmlns:p14="http://schemas.microsoft.com/office/powerpoint/2010/main" val="2494727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000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FigureOut">
              <a:rPr lang="en-US" dirty="0"/>
              <a:pPr/>
              <a:t>10/19/2026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308900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dirty="0"/>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dirty="0"/>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ahLst/>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0042016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FigureOut">
              <a:rPr lang="en-US" dirty="0"/>
              <a:pPr/>
              <a:t>10/19/2026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2697168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FigureOut">
              <a:rPr lang="en-US" dirty="0"/>
              <a:pPr/>
              <a:t>10/19/2026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5693039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FigureOut">
              <a:rPr lang="en-US" dirty="0"/>
              <a:pPr/>
              <a:t>10/19/2026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1500317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FigureOut">
              <a:rPr lang="en-US" dirty="0"/>
              <a:pPr/>
              <a:t>10/19/2026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19803474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dirty="0"/>
              <a:t>
              </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31677869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dirty="0"/>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
              </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a:t>
            </a:fld>
            <a:endParaRPr lang="en-US" dirty="0"/>
          </a:p>
        </p:txBody>
      </p:sp>
    </p:spTree>
    <p:extLst>
      <p:ext uri="{BB962C8B-B14F-4D97-AF65-F5344CB8AC3E}">
        <p14:creationId xmlns:p14="http://schemas.microsoft.com/office/powerpoint/2010/main" val="20141509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3D17B11-CCD8-4EEC-AD7E-F410C1454966}" type="datetimeFigureOut">
              <a:rPr lang="zh-CN" altLang="en-US" smtClean="0"/>
              <a:t>2026/10/19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79CB688-378F-4534-BFFE-AF122467FDB7}" type="slidenum">
              <a:rPr lang="zh-CN" altLang="en-US" smtClean="0"/>
              <a:t>‹#›</a:t>
            </a:fld>
            <a:endParaRPr lang="zh-CN" altLang="en-US"/>
          </a:p>
        </p:txBody>
      </p:sp>
    </p:spTree>
    <p:extLst>
      <p:ext uri="{BB962C8B-B14F-4D97-AF65-F5344CB8AC3E}">
        <p14:creationId xmlns:p14="http://schemas.microsoft.com/office/powerpoint/2010/main" val="3554554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dirty="0"/>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dirty="0"/>
              <a:t>
              </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FigureOut">
              <a:rPr lang="en-US" dirty="0"/>
              <a:pPr/>
              <a:t>10/19/2026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dirty="0"/>
              <a:pPr/>
              <a:t>‹#›</a:t>
            </a:fld>
            <a:endParaRPr 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036704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b="1">
                <a:ea typeface="+mj-lt"/>
                <a:cs typeface="+mj-lt"/>
              </a:rPr>
              <a:t>AI-Assisted Game Mashups</a:t>
            </a:r>
            <a:endParaRPr lang="zh-CN">
              <a:ea typeface="+mj-lt"/>
              <a:cs typeface="+mj-lt"/>
            </a:endParaRPr>
          </a:p>
        </p:txBody>
      </p:sp>
      <p:sp>
        <p:nvSpPr>
          <p:cNvPr id="3" name="副标题 2"/>
          <p:cNvSpPr>
            <a:spLocks noGrp="1"/>
          </p:cNvSpPr>
          <p:nvPr>
            <p:ph type="subTitle" idx="1"/>
          </p:nvPr>
        </p:nvSpPr>
        <p:spPr/>
        <p:txBody>
          <a:bodyPr vert="horz" lIns="91440" tIns="45720" rIns="91440" bIns="45720" rtlCol="0" anchor="t">
            <a:normAutofit/>
          </a:bodyPr>
          <a:lstStyle/>
          <a:p>
            <a:r>
              <a:rPr lang="zh-CN" altLang="en-US"/>
              <a:t>By: Zidian, Jackie, B</a:t>
            </a:r>
          </a:p>
        </p:txBody>
      </p:sp>
    </p:spTree>
    <p:extLst>
      <p:ext uri="{BB962C8B-B14F-4D97-AF65-F5344CB8AC3E}">
        <p14:creationId xmlns:p14="http://schemas.microsoft.com/office/powerpoint/2010/main" val="703088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71A59A5-57FF-F0E1-459F-951F29FD86D0}"/>
              </a:ext>
            </a:extLst>
          </p:cNvPr>
          <p:cNvSpPr>
            <a:spLocks noGrp="1"/>
          </p:cNvSpPr>
          <p:nvPr>
            <p:ph type="title"/>
          </p:nvPr>
        </p:nvSpPr>
        <p:spPr>
          <a:xfrm>
            <a:off x="731520" y="548640"/>
            <a:ext cx="6135624" cy="1143000"/>
          </a:xfrm>
        </p:spPr>
        <p:txBody>
          <a:bodyPr/>
          <a:lstStyle/>
          <a:p>
            <a:r>
              <a:rPr lang="en-US" b="1">
                <a:ea typeface="+mj-lt"/>
                <a:cs typeface="+mj-lt"/>
              </a:rPr>
              <a:t>What Is a Game Mashup?</a:t>
            </a:r>
            <a:endParaRPr lang="zh-CN" altLang="en-US"/>
          </a:p>
        </p:txBody>
      </p:sp>
      <p:sp>
        <p:nvSpPr>
          <p:cNvPr id="13" name="Content Placeholder 2">
            <a:extLst>
              <a:ext uri="{FF2B5EF4-FFF2-40B4-BE49-F238E27FC236}">
                <a16:creationId xmlns:a16="http://schemas.microsoft.com/office/drawing/2014/main" id="{F1C033E7-D1F6-8EBD-56A9-399E4A490C40}"/>
              </a:ext>
            </a:extLst>
          </p:cNvPr>
          <p:cNvSpPr>
            <a:spLocks noGrp="1"/>
          </p:cNvSpPr>
          <p:nvPr>
            <p:ph sz="quarter" idx="14"/>
          </p:nvPr>
        </p:nvSpPr>
        <p:spPr>
          <a:xfrm>
            <a:off x="731520" y="1828800"/>
            <a:ext cx="6135624" cy="4489704"/>
          </a:xfrm>
        </p:spPr>
        <p:txBody>
          <a:bodyPr vert="horz" lIns="91440" tIns="45720" rIns="91440" bIns="45720" rtlCol="0" anchor="t">
            <a:normAutofit/>
          </a:bodyPr>
          <a:lstStyle/>
          <a:p>
            <a:r>
              <a:rPr lang="en-US" sz="2000"/>
              <a:t>A game mashup combines elements, gameplay from </a:t>
            </a:r>
            <a:r>
              <a:rPr lang="en-US" sz="2000" dirty="0"/>
              <a:t>two different games, allowing player using one's mechanic in another.</a:t>
            </a:r>
          </a:p>
        </p:txBody>
      </p:sp>
      <p:pic>
        <p:nvPicPr>
          <p:cNvPr id="7" name="图片占位符 6">
            <a:extLst>
              <a:ext uri="{FF2B5EF4-FFF2-40B4-BE49-F238E27FC236}">
                <a16:creationId xmlns:a16="http://schemas.microsoft.com/office/drawing/2014/main" id="{1DEE7BDC-7715-2B87-3444-69EC86FA5375}"/>
              </a:ext>
            </a:extLst>
          </p:cNvPr>
          <p:cNvPicPr>
            <a:picLocks noGrp="1" noChangeAspect="1"/>
          </p:cNvPicPr>
          <p:nvPr>
            <p:ph type="pic" sz="quarter" idx="13"/>
          </p:nvPr>
        </p:nvPicPr>
        <p:blipFill>
          <a:blip r:embed="rId2"/>
          <a:srcRect l="12467" r="12467"/>
          <a:stretch/>
        </p:blipFill>
        <p:spPr>
          <a:xfrm>
            <a:off x="7372159" y="-1742"/>
            <a:ext cx="4820346" cy="6861484"/>
          </a:xfrm>
          <a:prstGeom prst="rect">
            <a:avLst/>
          </a:prstGeom>
          <a:blipFill>
            <a:blip r:embed="rId3">
              <a:alphaModFix amt="70000"/>
              <a:extLst>
                <a:ext uri="{28A0092B-C50C-407E-A947-70E740481C1C}">
                  <a14:useLocalDpi xmlns:a14="http://schemas.microsoft.com/office/drawing/2010/main" val="0"/>
                </a:ext>
              </a:extLst>
            </a:blip>
            <a:stretch>
              <a:fillRect/>
            </a:stretch>
          </a:blipFill>
        </p:spPr>
      </p:pic>
      <p:sp>
        <p:nvSpPr>
          <p:cNvPr id="4" name="日期占位符 3">
            <a:extLst>
              <a:ext uri="{FF2B5EF4-FFF2-40B4-BE49-F238E27FC236}">
                <a16:creationId xmlns:a16="http://schemas.microsoft.com/office/drawing/2014/main" id="{9493EF18-DDFA-D4BC-C455-46BD65B167E2}"/>
              </a:ext>
            </a:extLst>
          </p:cNvPr>
          <p:cNvSpPr>
            <a:spLocks noGrp="1"/>
          </p:cNvSpPr>
          <p:nvPr>
            <p:ph type="dt" sz="half" idx="15"/>
          </p:nvPr>
        </p:nvSpPr>
        <p:spPr>
          <a:xfrm rot="5400000">
            <a:off x="-997745" y="4687095"/>
            <a:ext cx="2706690" cy="365125"/>
          </a:xfrm>
        </p:spPr>
        <p:txBody>
          <a:bodyPr anchor="ctr">
            <a:normAutofit/>
          </a:bodyPr>
          <a:lstStyle/>
          <a:p>
            <a:pPr>
              <a:spcAft>
                <a:spcPts val="600"/>
              </a:spcAft>
            </a:pPr>
            <a:fld id="{2D995CF1-F602-45E6-BAFC-F00AFA1529B4}" type="datetime1">
              <a:rPr lang="en-US"/>
              <a:pPr>
                <a:spcAft>
                  <a:spcPts val="600"/>
                </a:spcAft>
              </a:pPr>
              <a:t>10/19/2026</a:t>
            </a:fld>
            <a:endParaRPr lang="zh-CN" altLang="en-US"/>
          </a:p>
        </p:txBody>
      </p:sp>
      <p:sp>
        <p:nvSpPr>
          <p:cNvPr id="17" name="Footer Placeholder 5">
            <a:extLst>
              <a:ext uri="{FF2B5EF4-FFF2-40B4-BE49-F238E27FC236}">
                <a16:creationId xmlns:a16="http://schemas.microsoft.com/office/drawing/2014/main" id="{46FC9560-7FFC-934D-1B10-3BE9A66F6E52}"/>
              </a:ext>
            </a:extLst>
          </p:cNvPr>
          <p:cNvSpPr>
            <a:spLocks noGrp="1"/>
          </p:cNvSpPr>
          <p:nvPr>
            <p:ph type="ftr" sz="quarter" idx="16"/>
          </p:nvPr>
        </p:nvSpPr>
        <p:spPr>
          <a:xfrm rot="16200000">
            <a:off x="-1131161" y="1592957"/>
            <a:ext cx="2973522" cy="365125"/>
          </a:xfrm>
        </p:spPr>
        <p:txBody>
          <a:bodyPr/>
          <a:lstStyle/>
          <a:p>
            <a:pPr>
              <a:spcAft>
                <a:spcPts val="600"/>
              </a:spcAft>
            </a:pPr>
            <a:r>
              <a:rPr lang="en-US"/>
              <a:t>
              </a:t>
            </a:r>
          </a:p>
        </p:txBody>
      </p:sp>
      <p:sp>
        <p:nvSpPr>
          <p:cNvPr id="6" name="灯片编号占位符 5">
            <a:extLst>
              <a:ext uri="{FF2B5EF4-FFF2-40B4-BE49-F238E27FC236}">
                <a16:creationId xmlns:a16="http://schemas.microsoft.com/office/drawing/2014/main" id="{B7BD6E0C-F932-0657-6399-FC4D31F16001}"/>
              </a:ext>
            </a:extLst>
          </p:cNvPr>
          <p:cNvSpPr>
            <a:spLocks noGrp="1"/>
          </p:cNvSpPr>
          <p:nvPr>
            <p:ph type="sldNum" sz="quarter" idx="17"/>
          </p:nvPr>
        </p:nvSpPr>
        <p:spPr>
          <a:xfrm>
            <a:off x="51117" y="6356350"/>
            <a:ext cx="574620" cy="365125"/>
          </a:xfrm>
        </p:spPr>
        <p:txBody>
          <a:bodyPr anchor="ctr">
            <a:normAutofit/>
          </a:bodyPr>
          <a:lstStyle/>
          <a:p>
            <a:pPr>
              <a:spcAft>
                <a:spcPts val="600"/>
              </a:spcAft>
            </a:pPr>
            <a:fld id="{079CB688-378F-4534-BFFE-AF122467FDB7}" type="slidenum">
              <a:rPr lang="zh-CN" altLang="en-US" smtClean="0"/>
              <a:pPr>
                <a:spcAft>
                  <a:spcPts val="600"/>
                </a:spcAft>
              </a:pPr>
              <a:t>2</a:t>
            </a:fld>
            <a:endParaRPr lang="zh-CN" altLang="en-US"/>
          </a:p>
        </p:txBody>
      </p:sp>
    </p:spTree>
    <p:extLst>
      <p:ext uri="{BB962C8B-B14F-4D97-AF65-F5344CB8AC3E}">
        <p14:creationId xmlns:p14="http://schemas.microsoft.com/office/powerpoint/2010/main" val="12691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D565B-3694-0E1E-F7D4-5F20F30EF69E}"/>
              </a:ext>
            </a:extLst>
          </p:cNvPr>
          <p:cNvSpPr>
            <a:spLocks noGrp="1"/>
          </p:cNvSpPr>
          <p:nvPr>
            <p:ph type="title"/>
          </p:nvPr>
        </p:nvSpPr>
        <p:spPr/>
        <p:txBody>
          <a:bodyPr/>
          <a:lstStyle/>
          <a:p>
            <a:r>
              <a:rPr lang="zh-CN" b="1" dirty="0">
                <a:ea typeface="+mj-lt"/>
                <a:cs typeface="+mj-lt"/>
              </a:rPr>
              <a:t>Example: Minecraft</a:t>
            </a:r>
            <a:r>
              <a:rPr lang="zh-CN" altLang="en-US" b="1" dirty="0">
                <a:ea typeface="+mj-lt"/>
                <a:cs typeface="+mj-lt"/>
              </a:rPr>
              <a:t> </a:t>
            </a:r>
            <a:r>
              <a:rPr lang="en-US" altLang="zh-CN" b="1">
                <a:ea typeface="+mj-lt"/>
                <a:cs typeface="+mj-lt"/>
              </a:rPr>
              <a:t>&amp; Elden</a:t>
            </a:r>
            <a:r>
              <a:rPr lang="en-US" altLang="en-US" b="1" dirty="0">
                <a:ea typeface="+mj-lt"/>
                <a:cs typeface="+mj-lt"/>
              </a:rPr>
              <a:t> </a:t>
            </a:r>
            <a:r>
              <a:rPr lang="zh-CN" b="1" dirty="0">
                <a:ea typeface="+mj-lt"/>
                <a:cs typeface="+mj-lt"/>
              </a:rPr>
              <a:t>Ring</a:t>
            </a:r>
            <a:endParaRPr lang="zh-CN" dirty="0"/>
          </a:p>
        </p:txBody>
      </p:sp>
      <p:sp>
        <p:nvSpPr>
          <p:cNvPr id="3" name="内容占位符 2">
            <a:extLst>
              <a:ext uri="{FF2B5EF4-FFF2-40B4-BE49-F238E27FC236}">
                <a16:creationId xmlns:a16="http://schemas.microsoft.com/office/drawing/2014/main" id="{CF5B2575-E432-6C9C-13B7-4CC0DF404388}"/>
              </a:ext>
            </a:extLst>
          </p:cNvPr>
          <p:cNvSpPr>
            <a:spLocks noGrp="1"/>
          </p:cNvSpPr>
          <p:nvPr>
            <p:ph sz="quarter" idx="14"/>
          </p:nvPr>
        </p:nvSpPr>
        <p:spPr/>
        <p:txBody>
          <a:bodyPr vert="horz" lIns="91440" tIns="45720" rIns="91440" bIns="45720" rtlCol="0" anchor="t">
            <a:normAutofit/>
          </a:bodyPr>
          <a:lstStyle/>
          <a:p>
            <a:r>
              <a:rPr lang="zh-CN" altLang="en-US" sz="2000" dirty="0"/>
              <a:t>This was very popluar recently when Quince uploaded his video about Steve in Elden Ring. Even tho he didnt really mentioned how he exacly mashed two game, but using claude ai to merge games is popluar recently, and due to all </a:t>
            </a:r>
            <a:r>
              <a:rPr lang="zh-CN" altLang="en-US" sz="2000"/>
              <a:t>of stuff he added to Elden Ring, we assumed he used claude to help his creation.</a:t>
            </a:r>
          </a:p>
        </p:txBody>
      </p:sp>
      <p:pic>
        <p:nvPicPr>
          <p:cNvPr id="8" name="图片占位符 7">
            <a:extLst>
              <a:ext uri="{FF2B5EF4-FFF2-40B4-BE49-F238E27FC236}">
                <a16:creationId xmlns:a16="http://schemas.microsoft.com/office/drawing/2014/main" id="{41EDB882-1862-86AF-0811-ADAF3855C28E}"/>
              </a:ext>
            </a:extLst>
          </p:cNvPr>
          <p:cNvPicPr>
            <a:picLocks noGrp="1" noChangeAspect="1"/>
          </p:cNvPicPr>
          <p:nvPr>
            <p:ph type="pic" sz="quarter" idx="13"/>
          </p:nvPr>
        </p:nvPicPr>
        <p:blipFill>
          <a:blip r:embed="rId2"/>
          <a:srcRect l="14209" r="14209"/>
          <a:stretch/>
        </p:blipFill>
        <p:spPr>
          <a:xfrm>
            <a:off x="7379478" y="-1858"/>
            <a:ext cx="4815003" cy="6861716"/>
          </a:xfrm>
          <a:prstGeom prst="rect">
            <a:avLst/>
          </a:prstGeom>
          <a:blipFill>
            <a:blip r:embed="rId3">
              <a:alphaModFix amt="70000"/>
              <a:extLst>
                <a:ext uri="{28A0092B-C50C-407E-A947-70E740481C1C}">
                  <a14:useLocalDpi xmlns:a14="http://schemas.microsoft.com/office/drawing/2010/main" val="0"/>
                </a:ext>
              </a:extLst>
            </a:blip>
            <a:stretch>
              <a:fillRect/>
            </a:stretch>
          </a:blipFill>
        </p:spPr>
      </p:pic>
      <p:sp>
        <p:nvSpPr>
          <p:cNvPr id="5" name="日期占位符 4">
            <a:extLst>
              <a:ext uri="{FF2B5EF4-FFF2-40B4-BE49-F238E27FC236}">
                <a16:creationId xmlns:a16="http://schemas.microsoft.com/office/drawing/2014/main" id="{A603A570-C1FD-C38E-C890-5DD60BD77FD9}"/>
              </a:ext>
            </a:extLst>
          </p:cNvPr>
          <p:cNvSpPr>
            <a:spLocks noGrp="1"/>
          </p:cNvSpPr>
          <p:nvPr>
            <p:ph type="dt" sz="half" idx="15"/>
          </p:nvPr>
        </p:nvSpPr>
        <p:spPr/>
        <p:txBody>
          <a:bodyPr/>
          <a:lstStyle/>
          <a:p>
            <a:fld id="{46629CC3-DDA9-4E2E-ADEB-8833284B881E}" type="datetime1">
              <a:t>10/19/2026</a:t>
            </a:fld>
            <a:endParaRPr lang="en-US" dirty="0"/>
          </a:p>
        </p:txBody>
      </p:sp>
      <p:sp>
        <p:nvSpPr>
          <p:cNvPr id="6" name="页脚占位符 5">
            <a:extLst>
              <a:ext uri="{FF2B5EF4-FFF2-40B4-BE49-F238E27FC236}">
                <a16:creationId xmlns:a16="http://schemas.microsoft.com/office/drawing/2014/main" id="{038DA945-48A3-5B5D-3B50-46FB1BF5B4ED}"/>
              </a:ext>
            </a:extLst>
          </p:cNvPr>
          <p:cNvSpPr>
            <a:spLocks noGrp="1"/>
          </p:cNvSpPr>
          <p:nvPr>
            <p:ph type="ftr" sz="quarter" idx="16"/>
          </p:nvPr>
        </p:nvSpPr>
        <p:spPr/>
        <p:txBody>
          <a:bodyPr/>
          <a:lstStyle/>
          <a:p>
            <a:r>
              <a:rPr lang="en-US" dirty="0"/>
              <a:t>
              </a:t>
            </a:r>
          </a:p>
        </p:txBody>
      </p:sp>
      <p:sp>
        <p:nvSpPr>
          <p:cNvPr id="7" name="灯片编号占位符 6">
            <a:extLst>
              <a:ext uri="{FF2B5EF4-FFF2-40B4-BE49-F238E27FC236}">
                <a16:creationId xmlns:a16="http://schemas.microsoft.com/office/drawing/2014/main" id="{A46439FA-9170-80DA-7C38-00066E9D42BF}"/>
              </a:ext>
            </a:extLst>
          </p:cNvPr>
          <p:cNvSpPr>
            <a:spLocks noGrp="1"/>
          </p:cNvSpPr>
          <p:nvPr>
            <p:ph type="sldNum" sz="quarter" idx="17"/>
          </p:nvPr>
        </p:nvSpPr>
        <p:spPr/>
        <p:txBody>
          <a:bodyPr/>
          <a:lstStyle/>
          <a:p>
            <a:fld id="{2DE90F28-AFBB-4AB2-AA79-6D3F72ED131B}" type="slidenum">
              <a:rPr lang="en-US" dirty="0"/>
              <a:pPr/>
              <a:t>3</a:t>
            </a:fld>
            <a:endParaRPr lang="en-US" dirty="0"/>
          </a:p>
        </p:txBody>
      </p:sp>
    </p:spTree>
    <p:extLst>
      <p:ext uri="{BB962C8B-B14F-4D97-AF65-F5344CB8AC3E}">
        <p14:creationId xmlns:p14="http://schemas.microsoft.com/office/powerpoint/2010/main" val="4275945225"/>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panose="02020502050305020303"/>
        <a:ea typeface=""/>
        <a:cs typeface=""/>
      </a:minorFont>
    </a:fontScheme>
    <a:fmtScheme name="Archway">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15BC1FC9-F32C-4048-9052-439CED41F932}" vid="{4FF12325-B8E7-401C-AF33-78C72DDA2CB7}"/>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宽屏</PresentationFormat>
  <Paragraphs>0</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Archway</vt:lpstr>
      <vt:lpstr>AI-Assisted Game Mashups</vt:lpstr>
      <vt:lpstr>What Is a Game Mashup?</vt:lpstr>
      <vt:lpstr>Example: Minecraft &amp; Elden 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88</cp:revision>
  <dcterms:created xsi:type="dcterms:W3CDTF">2026-10-19T22:57:07Z</dcterms:created>
  <dcterms:modified xsi:type="dcterms:W3CDTF">2026-10-19T23:38:10Z</dcterms:modified>
</cp:coreProperties>
</file>
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D88B4F-AF11-E7C5-86CE-E53BD8F3758A}" v="191" dt="2026-10-19T23:15:13.8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014E-32E8-BC91-190E-85B3C74C9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8" y="964075"/>
            <a:ext cx="4654297" cy="3739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0" y="4822842"/>
            <a:ext cx="4206240" cy="1380744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2603722-CE80-C718-39E9-BB79F1F68C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84C280F-E753-FE97-A722-F86168AC97B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41248" y="964074"/>
            <a:ext cx="5403280" cy="5258929"/>
          </a:xfrm>
          <a:custGeom>
            <a:avLst/>
            <a:gdLst/>
            <a:ahLst/>
            <a:cxnLst/>
            <a:rect l="l" t="t" r="r" b="b"/>
            <a:pathLst>
              <a:path w="5403280" h="5258929">
                <a:moveTo>
                  <a:pt x="2701640" y="0"/>
                </a:moveTo>
                <a:cubicBezTo>
                  <a:pt x="4193715" y="0"/>
                  <a:pt x="5403280" y="1209565"/>
                  <a:pt x="5403280" y="2701640"/>
                </a:cubicBezTo>
                <a:lnTo>
                  <a:pt x="5403280" y="5258929"/>
                </a:lnTo>
                <a:lnTo>
                  <a:pt x="0" y="5258929"/>
                </a:lnTo>
                <a:lnTo>
                  <a:pt x="0" y="2701640"/>
                </a:lnTo>
                <a:cubicBezTo>
                  <a:pt x="0" y="1209565"/>
                  <a:pt x="1209565" y="0"/>
                  <a:pt x="2701640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noFill/>
          </a:ln>
        </p:spPr>
        <p:txBody>
          <a:bodyPr wrap="square"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17A08-C834-F239-A3DF-2D1295F0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t>10/19/2026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E80C6A5-61FE-078D-49D9-31BD129401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2230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6C4595-90D4-94E6-CEBA-82807457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658679"/>
            <a:ext cx="10780776" cy="492500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6A364-A39C-470E-B89A-9BD899585684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53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5218032"/>
            <a:ext cx="10972800" cy="786384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972629"/>
            <a:ext cx="10972800" cy="480373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BD73-E6AB-68A9-F41B-313E0C4477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396119" y="5787191"/>
            <a:ext cx="1503444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A6162-61A3-2C41-311C-F407FC4B4DA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A43F5B-065E-43CE-B3FD-98C48A6F94D7}" type="datetimeFigureOut">
              <a:rPr lang="en-US" dirty="0"/>
              <a:t>10/19/2026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ABF624-39B6-C7A2-98E7-26593626B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498994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B102F-64E7-9387-1F8F-DB4AC82577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DE90F28-AFBB-4AB2-AA79-6D3F72ED131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292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E84C31D-CC85-27E5-FD9F-627C926D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78608"/>
            <a:ext cx="7879335" cy="3592629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0B934F-7AD0-6CA4-BC4D-9CC30854B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1714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F6486-38AE-54F6-E2F3-8B944C3F1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41BD916-71AE-106E-105D-01655950FC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87800" y="368300"/>
            <a:ext cx="7375525" cy="1014413"/>
          </a:xfrm>
        </p:spPr>
        <p:txBody>
          <a:bodyPr anchor="ctr">
            <a:normAutofit/>
          </a:bodyPr>
          <a:lstStyle>
            <a:lvl1pPr algn="r"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D0054-227E-4953-9BB1-7141F9024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43F5B-065E-43CE-B3FD-98C48A6F94D7}" type="datetimeFigureOut">
              <a:rPr lang="en-US" dirty="0"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2E0F1-15E9-E241-9959-A6D46B69E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90F28-AFBB-4AB2-AA79-6D3F72ED131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876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842852-3CDE-22AD-D5F0-AAF8279A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536"/>
            <a:ext cx="9546336" cy="3675885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2A7A0-B9EE-41A8-8016-28E5803F20B2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D523C5-E38D-F0DE-48C0-B6B8404B6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4" y="5143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610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4EF7E11-76D4-64FA-465B-165405450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947" y="1296083"/>
            <a:ext cx="4353325" cy="4265835"/>
          </a:xfrm>
          <a:custGeom>
            <a:avLst/>
            <a:gdLst/>
            <a:ahLst/>
            <a:cxnLst/>
            <a:rect l="l" t="t" r="r" b="b"/>
            <a:pathLst>
              <a:path w="4353325" h="4265835">
                <a:moveTo>
                  <a:pt x="2176663" y="0"/>
                </a:moveTo>
                <a:cubicBezTo>
                  <a:pt x="3378800" y="0"/>
                  <a:pt x="4353325" y="974525"/>
                  <a:pt x="4353325" y="2176662"/>
                </a:cubicBezTo>
                <a:lnTo>
                  <a:pt x="4353325" y="2712923"/>
                </a:lnTo>
                <a:lnTo>
                  <a:pt x="4353325" y="3733873"/>
                </a:lnTo>
                <a:lnTo>
                  <a:pt x="4353325" y="4265835"/>
                </a:lnTo>
                <a:lnTo>
                  <a:pt x="0" y="4265835"/>
                </a:lnTo>
                <a:lnTo>
                  <a:pt x="0" y="3733873"/>
                </a:lnTo>
                <a:lnTo>
                  <a:pt x="0" y="2712923"/>
                </a:lnTo>
                <a:lnTo>
                  <a:pt x="0" y="2176662"/>
                </a:lnTo>
                <a:cubicBezTo>
                  <a:pt x="0" y="974525"/>
                  <a:pt x="974525" y="0"/>
                  <a:pt x="2176663" y="0"/>
                </a:cubicBezTo>
                <a:close/>
              </a:path>
            </a:pathLst>
          </a:custGeom>
          <a:ln w="6350">
            <a:solidFill>
              <a:schemeClr val="tx1"/>
            </a:solidFill>
          </a:ln>
        </p:spPr>
        <p:txBody>
          <a:bodyPr wrap="square" lIns="182880" tIns="914400" rIns="182880" anchor="ctr" anchorCtr="0">
            <a:noAutofit/>
          </a:bodyPr>
          <a:lstStyle>
            <a:lvl1pPr algn="ct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35056" y="1296083"/>
            <a:ext cx="4325112" cy="4265835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53D6F41-6645-4089-A6BB-7B692A44A4CC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48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4608576"/>
            <a:ext cx="4169664" cy="1609344"/>
          </a:xfrm>
        </p:spPr>
        <p:txBody>
          <a:bodyPr anchor="t" anchorCtr="0">
            <a:noAutofit/>
          </a:bodyPr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E5AAB3D-814D-597A-6ADE-F522A8116DCD}"/>
              </a:ext>
            </a:extLst>
          </p:cNvPr>
          <p:cNvSpPr>
            <a:spLocks noGrp="1" noChangeAspect="1"/>
          </p:cNvSpPr>
          <p:nvPr>
            <p:ph type="pic" idx="13" hasCustomPrompt="1"/>
          </p:nvPr>
        </p:nvSpPr>
        <p:spPr>
          <a:xfrm>
            <a:off x="1257301" y="1097280"/>
            <a:ext cx="3776470" cy="3168100"/>
          </a:xfrm>
          <a:custGeom>
            <a:avLst/>
            <a:gdLst/>
            <a:ahLst/>
            <a:cxnLst/>
            <a:rect l="l" t="t" r="r" b="b"/>
            <a:pathLst>
              <a:path w="3776470" h="3168100">
                <a:moveTo>
                  <a:pt x="1888235" y="0"/>
                </a:moveTo>
                <a:cubicBezTo>
                  <a:pt x="2931078" y="0"/>
                  <a:pt x="3776470" y="845392"/>
                  <a:pt x="3776470" y="1888235"/>
                </a:cubicBezTo>
                <a:lnTo>
                  <a:pt x="3776470" y="3168100"/>
                </a:lnTo>
                <a:lnTo>
                  <a:pt x="0" y="3168100"/>
                </a:lnTo>
                <a:lnTo>
                  <a:pt x="0" y="1888235"/>
                </a:lnTo>
                <a:cubicBezTo>
                  <a:pt x="0" y="845392"/>
                  <a:pt x="845392" y="0"/>
                  <a:pt x="1888235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1464" y="841248"/>
            <a:ext cx="4215384" cy="5330952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  <a:lvl2pPr algn="ctr">
              <a:defRPr>
                <a:solidFill>
                  <a:schemeClr val="tx1"/>
                </a:solidFill>
              </a:defRPr>
            </a:lvl2pPr>
            <a:lvl3pPr algn="ctr">
              <a:defRPr>
                <a:solidFill>
                  <a:schemeClr val="tx1"/>
                </a:solidFill>
              </a:defRPr>
            </a:lvl3pPr>
            <a:lvl4pPr algn="ctr">
              <a:defRPr>
                <a:solidFill>
                  <a:schemeClr val="tx1"/>
                </a:solidFill>
              </a:defRPr>
            </a:lvl4pPr>
            <a:lvl5pPr algn="ctr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E16723-2C2F-40DB-89B2-A94AAE77E75C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D2C868-CE73-A5B1-1389-62A23B14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9708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66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4" y="2615184"/>
            <a:ext cx="3813048" cy="355701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841248"/>
            <a:ext cx="4956175" cy="355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58B73AF-3955-4569-8B4F-B329360A9CBD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4378AB-83E7-8777-F6CD-8F19BA4FE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5016203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21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841248"/>
            <a:ext cx="2999232" cy="5184648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66926" y="841248"/>
            <a:ext cx="6260154" cy="518464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0ADC593-EA98-4C39-A75F-3F3A9C691019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8293A07-68F2-BD10-B738-E87F3F3D8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418221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507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1152" y="990511"/>
            <a:ext cx="2565593" cy="1858941"/>
          </a:xfrm>
        </p:spPr>
        <p:txBody>
          <a:bodyPr anchor="b"/>
          <a:lstStyle>
            <a:lvl1pPr>
              <a:def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/>
            <a:ahLst/>
            <a:cxnLst/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2271" y="3011335"/>
            <a:ext cx="2559977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8BD5A515-9970-0784-7927-52F94C270B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5400000">
            <a:off x="10292564" y="1592958"/>
            <a:ext cx="2973522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8523CCEC-6BB2-B704-95E2-87FED823C5B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208465C-8C77-73BF-D18F-D01907BAC8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12296" y="6356350"/>
            <a:ext cx="574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2A219-E459-07B3-1ED3-CBF7D239B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2057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155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548640"/>
            <a:ext cx="6093225" cy="11430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6071616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F483F68-3490-71E7-A7DA-DA46BC48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97154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45FA4-0621-D8F1-73D0-046B7F4D77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5981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4C51678-E871-8AD4-08DA-BF7B7013A35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10292565" y="1592957"/>
            <a:ext cx="297352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CD01CE4-E064-7D2F-7D3A-9DA85E2777F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170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48640"/>
            <a:ext cx="6135624" cy="11430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28800"/>
            <a:ext cx="6135624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C07157-DE89-FE2F-0547-2E4055913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382022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A0C5A-6673-53CC-030B-67BA133D974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521688-F793-E4F2-732B-EEE6F58B75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BE29E-7417-B57C-BA94-1DBC14BE461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464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0040"/>
            <a:ext cx="6858000" cy="932688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6858000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C626C00-7A36-46A2-880D-F484910B3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077761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FF6D8B-36A2-DF79-CDB9-885694DCA71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2396A-E38F-CC9C-7303-71F99D08208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B0E4B-031C-4F2A-1993-D824DD71F7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5578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83413"/>
            <a:ext cx="4361688" cy="1262639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979461"/>
            <a:ext cx="4360863" cy="43292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81977D-48BC-F135-96F9-1655E4BEE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73212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EA981C2C-E0DD-29A7-8209-50D66488152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205369F-8CCB-402F-9055-2BF12262B54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3591F2-4BD3-37D0-B00E-B2CD5F47A36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290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0040"/>
            <a:ext cx="4572000" cy="932688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4572000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8BEB48-A052-9364-6EF6-F698004CA5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911724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417D8113-ECE6-D6F5-9CA4-C96A535F479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/>
          <a:lstStyle/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29A0137-F97A-8194-464D-3B7D4814A8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3FE5686-63A9-B1A1-5734-F96A9651465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/>
          <a:lstStyle/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4730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485E715F-A05B-F2BC-ABF4-447E9B58E0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499001" y="5684309"/>
            <a:ext cx="1709209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32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1173959" y="5435073"/>
            <a:ext cx="121073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C8C146-0A20-4029-98D5-9A42EEDF8B24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2B6090-1D21-5610-7943-4C4F96A6C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463823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0783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882896"/>
            <a:ext cx="3657603" cy="1453896"/>
          </a:xfrm>
        </p:spPr>
        <p:txBody>
          <a:bodyPr anchor="t">
            <a:normAutofit/>
          </a:bodyPr>
          <a:lstStyle>
            <a:lvl1pPr algn="ct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838F5DE0-1AA8-5320-EBEC-7B2EEF39963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31520" y="548642"/>
            <a:ext cx="3490175" cy="4041647"/>
          </a:xfrm>
          <a:custGeom>
            <a:avLst/>
            <a:gdLst/>
            <a:ahLst/>
            <a:cxnLst/>
            <a:rect l="l" t="t" r="r" b="b"/>
            <a:pathLst>
              <a:path w="3490175" h="4041647">
                <a:moveTo>
                  <a:pt x="1745088" y="0"/>
                </a:moveTo>
                <a:cubicBezTo>
                  <a:pt x="2708873" y="0"/>
                  <a:pt x="3490175" y="781302"/>
                  <a:pt x="3490175" y="1745088"/>
                </a:cubicBezTo>
                <a:lnTo>
                  <a:pt x="3490175" y="3141232"/>
                </a:lnTo>
                <a:lnTo>
                  <a:pt x="3490175" y="3490175"/>
                </a:lnTo>
                <a:lnTo>
                  <a:pt x="3490175" y="4041647"/>
                </a:lnTo>
                <a:lnTo>
                  <a:pt x="0" y="4041647"/>
                </a:lnTo>
                <a:lnTo>
                  <a:pt x="0" y="3490175"/>
                </a:lnTo>
                <a:lnTo>
                  <a:pt x="0" y="3141232"/>
                </a:lnTo>
                <a:lnTo>
                  <a:pt x="0" y="1745088"/>
                </a:lnTo>
                <a:cubicBezTo>
                  <a:pt x="0" y="781302"/>
                  <a:pt x="781302" y="0"/>
                  <a:pt x="1745088" y="0"/>
                </a:cubicBezTo>
                <a:close/>
              </a:path>
            </a:pathLst>
          </a:custGeom>
          <a:blipFill dpi="0" rotWithShape="1">
            <a:blip r:embed="rId2">
              <a:alphaModFix amt="8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37760" y="549275"/>
            <a:ext cx="6561138" cy="57594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73859A7-84EB-4384-87AF-59CC16704CF8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19C3A72-7CAE-129F-7490-B687280EF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646117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099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64" y="559341"/>
            <a:ext cx="1075567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C89FBB9-2C05-A4C1-ECB4-D6A5C4219E4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161" y="1592957"/>
            <a:ext cx="2973522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BB07A11-50DE-6BC0-0514-6E2C14A4798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16200000" flipH="1">
            <a:off x="-997746" y="4594946"/>
            <a:ext cx="270669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3ED5F49-F9F7-05A9-62AC-C9C8DF2EADE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69" y="6264201"/>
            <a:ext cx="574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1200" y="1713652"/>
            <a:ext cx="4387012" cy="461294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658927" y="1713653"/>
            <a:ext cx="6533071" cy="5144347"/>
          </a:xfrm>
          <a:custGeom>
            <a:avLst/>
            <a:gdLst/>
            <a:ahLst/>
            <a:cxnLst/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dirty="0"/>
            </a:lvl1pPr>
          </a:lstStyle>
          <a:p>
            <a:pPr marL="285750" lvl="0" indent="-285750"/>
            <a:endParaRPr/>
          </a:p>
        </p:txBody>
      </p:sp>
    </p:spTree>
    <p:extLst>
      <p:ext uri="{BB962C8B-B14F-4D97-AF65-F5344CB8AC3E}">
        <p14:creationId xmlns:p14="http://schemas.microsoft.com/office/powerpoint/2010/main" val="24947274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7BBF55A-D91F-143D-FBB6-73995F00E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4937761"/>
            <a:ext cx="6987537" cy="1353312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spcBef>
                <a:spcPts val="1000"/>
              </a:spcBef>
              <a:defRPr sz="2800" cap="none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72A4B4E-0B2F-F1BB-322A-713D1FB5F2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7400" y="549021"/>
            <a:ext cx="9455150" cy="4333875"/>
          </a:xfrm>
        </p:spPr>
        <p:txBody>
          <a:bodyPr anchor="b">
            <a:normAutofit/>
          </a:bodyPr>
          <a:lstStyle>
            <a:lvl1pPr>
              <a:defRPr sz="23200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5AD3D17-73C9-402C-91E7-BA73E6829C50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6D47F-2AE5-2705-911C-52BBD6B7D8EA}"/>
              </a:ext>
            </a:extLst>
          </p:cNvPr>
          <p:cNvCxnSpPr>
            <a:cxnSpLocks/>
          </p:cNvCxnSpPr>
          <p:nvPr/>
        </p:nvCxnSpPr>
        <p:spPr>
          <a:xfrm flipV="1">
            <a:off x="137160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000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28126"/>
            <a:ext cx="10652760" cy="1133856"/>
          </a:xfrm>
        </p:spPr>
        <p:txBody>
          <a:bodyPr/>
          <a:lstStyle>
            <a:lvl1pPr>
              <a:defRPr cap="none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A4897F-B66E-DAD4-F56C-6152B417CC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624138" y="2268748"/>
            <a:ext cx="6943724" cy="3954255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1pPr>
            <a:lvl2pPr marL="2286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2pPr>
            <a:lvl3pPr marL="4572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3pPr>
            <a:lvl4pPr marL="6858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4pPr>
            <a:lvl5pPr marL="914400" indent="0" algn="ctr">
              <a:lnSpc>
                <a:spcPct val="110000"/>
              </a:lnSpc>
              <a:buNone/>
              <a:defRPr sz="4400" b="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40A1F3-DA5D-4F2E-B759-748FF8D0ACA9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6" name="Freeform: Shape 15">
            <a:extLst>
              <a:ext uri="{FF2B5EF4-FFF2-40B4-BE49-F238E27FC236}">
                <a16:creationId xmlns:a16="http://schemas.microsoft.com/office/drawing/2014/main" id="{8EFA7EFC-C6F9-B1D5-025F-824C1CE9A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057205" y="-1430380"/>
            <a:ext cx="6077590" cy="10510705"/>
          </a:xfrm>
          <a:custGeom>
            <a:avLst/>
            <a:gdLst/>
            <a:ahLst/>
            <a:cxnLst/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308900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6D87B9B-22A3-322E-B7E8-223255AD09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40168" y="5669280"/>
            <a:ext cx="6311664" cy="466344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spcBef>
                <a:spcPts val="1000"/>
              </a:spcBef>
              <a:defRPr sz="1800" cap="all" baseline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6A9BC83F-8FE5-5223-2B3A-6E122D33630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597135" y="1744578"/>
            <a:ext cx="6997730" cy="3507906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6000" cap="all" baseline="0"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9" name="Freeform: Shape 15">
            <a:extLst>
              <a:ext uri="{FF2B5EF4-FFF2-40B4-BE49-F238E27FC236}">
                <a16:creationId xmlns:a16="http://schemas.microsoft.com/office/drawing/2014/main" id="{9F353A57-FA3C-A68C-4908-E774A52CB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2811380" y="-1681974"/>
            <a:ext cx="6569242" cy="10510705"/>
          </a:xfrm>
          <a:custGeom>
            <a:avLst/>
            <a:gdLst/>
            <a:ahLst/>
            <a:cxnLst/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D63035D-22A0-4334-A9AE-2457016C8B4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20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FE6B-A4D8-8ED7-89D7-5E7F2C5B8F5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103438"/>
            <a:ext cx="5181600" cy="43513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86405AE-ED31-677D-86D8-01EAD583735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4947" y="2103121"/>
            <a:ext cx="5181600" cy="43513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E765B10-D26A-480A-9509-A9831C5E60D8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1685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5A6F3D-6630-C2E0-DC0A-6D2C0AACF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520" y="2103120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C38DBB1-A1FA-A460-88C8-B05F1570CA9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743200"/>
            <a:ext cx="5157187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9360" y="2103120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82D763CC-A010-6A2B-FEF3-388EAC8417D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09361" y="27432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CB42A-67CE-499B-A4FA-7D4E4469B142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3039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0796BC8-E1B7-E6D6-E86F-4A5CAECDF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9E5040-F7E0-40EC-B8E9-CED28200FAA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317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7CFF128-BAC7-4E0D-8F77-28A571D93B6F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347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57200"/>
            <a:ext cx="7342307" cy="1133856"/>
          </a:xfrm>
          <a:noFill/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2624328"/>
            <a:ext cx="10424160" cy="32004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7987AA-E4E6-4FC1-BAD8-09A952212C58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7869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6">
            <a:extLst>
              <a:ext uri="{FF2B5EF4-FFF2-40B4-BE49-F238E27FC236}">
                <a16:creationId xmlns:a16="http://schemas.microsoft.com/office/drawing/2014/main" id="{CE8CC034-C652-239B-0064-9B0543AC2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65760"/>
            <a:ext cx="10741152" cy="1132258"/>
          </a:xfrm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D051F68D-E2E5-C625-0273-281CE6D493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2301836"/>
            <a:ext cx="10741150" cy="3921165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2A7A0-B9EE-41A8-8016-28E5803F20B2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150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4554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1168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 flipH="1">
            <a:off x="-1131161" y="1592957"/>
            <a:ext cx="29735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61469"/>
            <a:ext cx="1051560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5981" y="4687095"/>
            <a:ext cx="270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fld id="{7FA43F5B-065E-43CE-B3FD-98C48A6F94D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2296" y="6356350"/>
            <a:ext cx="5746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>
                <a:solidFill>
                  <a:schemeClr val="tx1"/>
                </a:solidFill>
              </a:defRPr>
            </a:lvl1pPr>
          </a:lstStyle>
          <a:p>
            <a:fld id="{2DE90F28-AFBB-4AB2-AA79-6D3F72ED131B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4" y="1824111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367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  <p:sldLayoutId id="2147483738" r:id="rId20"/>
    <p:sldLayoutId id="2147483739" r:id="rId21"/>
    <p:sldLayoutId id="2147483740" r:id="rId22"/>
    <p:sldLayoutId id="2147483741" r:id="rId23"/>
    <p:sldLayoutId id="2147483742" r:id="rId24"/>
    <p:sldLayoutId id="2147483743" r:id="rId25"/>
    <p:sldLayoutId id="2147483744" r:id="rId26"/>
    <p:sldLayoutId id="2147483745" r:id="rId27"/>
    <p:sldLayoutId id="2147483746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8">
          <p15:clr>
            <a:srgbClr val="F26B43"/>
          </p15:clr>
        </p15:guide>
        <p15:guide id="2" pos="528">
          <p15:clr>
            <a:srgbClr val="F26B43"/>
          </p15:clr>
        </p15:guide>
        <p15:guide id="3" orient="horz" pos="3792">
          <p15:clr>
            <a:srgbClr val="F26B43"/>
          </p15:clr>
        </p15:guide>
        <p15:guide id="4" pos="715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b="1">
                <a:ea typeface="+mj-lt"/>
                <a:cs typeface="+mj-lt"/>
              </a:rPr>
              <a:t>AI-Assisted Game Mashups</a:t>
            </a:r>
            <a:endParaRPr lang="zh-CN">
              <a:ea typeface="+mj-lt"/>
              <a:cs typeface="+mj-lt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By: Zidian, Jackie, B</a:t>
            </a:r>
          </a:p>
        </p:txBody>
      </p:sp>
    </p:spTree>
    <p:extLst>
      <p:ext uri="{BB962C8B-B14F-4D97-AF65-F5344CB8AC3E}">
        <p14:creationId xmlns:p14="http://schemas.microsoft.com/office/powerpoint/2010/main" val="70308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71A59A5-57FF-F0E1-459F-951F29FD8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48640"/>
            <a:ext cx="6135624" cy="1143000"/>
          </a:xfrm>
        </p:spPr>
        <p:txBody>
          <a:bodyPr/>
          <a:lstStyle/>
          <a:p>
            <a:r>
              <a:rPr lang="en-US" b="1">
                <a:ea typeface="+mj-lt"/>
                <a:cs typeface="+mj-lt"/>
              </a:rPr>
              <a:t>What Is a Game Mashup?</a:t>
            </a:r>
            <a:endParaRPr lang="zh-CN" alt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C033E7-D1F6-8EBD-56A9-399E4A490C4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28800"/>
            <a:ext cx="6135624" cy="44897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A game mashup combines elements, gameplay from </a:t>
            </a:r>
            <a:r>
              <a:rPr lang="en-US" sz="2000" dirty="0"/>
              <a:t>two different games, allowing player using one's mechanic in another.</a:t>
            </a:r>
          </a:p>
        </p:txBody>
      </p:sp>
      <p:pic>
        <p:nvPicPr>
          <p:cNvPr id="7" name="图片占位符 6">
            <a:extLst>
              <a:ext uri="{FF2B5EF4-FFF2-40B4-BE49-F238E27FC236}">
                <a16:creationId xmlns:a16="http://schemas.microsoft.com/office/drawing/2014/main" id="{1DEE7BDC-7715-2B87-3444-69EC86FA537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2467" r="12467"/>
          <a:stretch/>
        </p:blipFill>
        <p:spPr>
          <a:xfrm>
            <a:off x="7372159" y="-1742"/>
            <a:ext cx="4820346" cy="6861484"/>
          </a:xfrm>
          <a:prstGeom prst="rect">
            <a:avLst/>
          </a:prstGeom>
          <a:blipFill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</p:pic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93EF18-DDFA-D4BC-C455-46BD65B167E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745" y="4687095"/>
            <a:ext cx="270669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D995CF1-F602-45E6-BAFC-F00AFA1529B4}" type="datetime1">
              <a:rPr lang="en-US"/>
              <a:pPr>
                <a:spcAft>
                  <a:spcPts val="600"/>
                </a:spcAft>
              </a:pPr>
              <a:t>10/19/2026</a:t>
            </a:fld>
            <a:endParaRPr lang="zh-CN" altLang="en-US"/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46FC9560-7FFC-934D-1B10-3BE9A66F6E5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>
            <a:off x="-1131161" y="1592957"/>
            <a:ext cx="2973522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BD6E0C-F932-0657-6399-FC4D31F160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17" y="6356350"/>
            <a:ext cx="5746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79CB688-378F-4534-BFFE-AF122467FDB7}" type="slidenum">
              <a:rPr lang="zh-CN" altLang="en-US" smtClean="0"/>
              <a:pPr>
                <a:spcAft>
                  <a:spcPts val="600"/>
                </a:spcAft>
              </a:pPr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917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D565B-3694-0E1E-F7D4-5F20F30EF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b="1" dirty="0">
                <a:ea typeface="+mj-lt"/>
                <a:cs typeface="+mj-lt"/>
              </a:rPr>
              <a:t>Example: Minecraft</a:t>
            </a:r>
            <a:r>
              <a:rPr lang="zh-CN" altLang="en-US" b="1" dirty="0">
                <a:ea typeface="+mj-lt"/>
                <a:cs typeface="+mj-lt"/>
              </a:rPr>
              <a:t> </a:t>
            </a:r>
            <a:r>
              <a:rPr lang="en-US" altLang="zh-CN" b="1">
                <a:ea typeface="+mj-lt"/>
                <a:cs typeface="+mj-lt"/>
              </a:rPr>
              <a:t>&amp; Elden</a:t>
            </a:r>
            <a:r>
              <a:rPr lang="en-US" altLang="en-US" b="1" dirty="0">
                <a:ea typeface="+mj-lt"/>
                <a:cs typeface="+mj-lt"/>
              </a:rPr>
              <a:t> </a:t>
            </a:r>
            <a:r>
              <a:rPr lang="zh-CN" b="1" dirty="0">
                <a:ea typeface="+mj-lt"/>
                <a:cs typeface="+mj-lt"/>
              </a:rPr>
              <a:t>Ring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5B2575-E432-6C9C-13B7-4CC0DF40438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图片占位符 3">
            <a:extLst>
              <a:ext uri="{FF2B5EF4-FFF2-40B4-BE49-F238E27FC236}">
                <a16:creationId xmlns:a16="http://schemas.microsoft.com/office/drawing/2014/main" id="{172DF2B3-732C-4598-4C53-1C229CAF7B38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/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603A570-C1FD-C38E-C890-5DD60BD77FD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6629CC3-DDA9-4E2E-ADEB-8833284B881E}" type="datetime1">
              <a:t>10/19/2026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8DA945-48A3-5B5D-3B50-46FB1BF5B4E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6439FA-9170-80DA-7C38-00066E9D42B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DE90F28-AFBB-4AB2-AA79-6D3F72ED131B}" type="slidenum">
              <a:rPr lang="en-US" dirty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945225"/>
      </p:ext>
    </p:extLst>
  </p:cSld>
  <p:clrMapOvr>
    <a:masterClrMapping/>
  </p:clrMapOvr>
</p:sld>
</file>

<file path=ppt/theme/theme1.xml><?xml version="1.0" encoding="utf-8"?>
<a:theme xmlns:a="http://schemas.openxmlformats.org/drawingml/2006/main" name="Archway">
  <a:themeElements>
    <a:clrScheme name="Archway">
      <a:dk1>
        <a:sysClr val="windowText" lastClr="000000"/>
      </a:dk1>
      <a:lt1>
        <a:sysClr val="window" lastClr="FFFFFF"/>
      </a:lt1>
      <a:dk2>
        <a:srgbClr val="424C4E"/>
      </a:dk2>
      <a:lt2>
        <a:srgbClr val="EDE9E7"/>
      </a:lt2>
      <a:accent1>
        <a:srgbClr val="9FA597"/>
      </a:accent1>
      <a:accent2>
        <a:srgbClr val="AEA67E"/>
      </a:accent2>
      <a:accent3>
        <a:srgbClr val="957D71"/>
      </a:accent3>
      <a:accent4>
        <a:srgbClr val="C88769"/>
      </a:accent4>
      <a:accent5>
        <a:srgbClr val="97A4AA"/>
      </a:accent5>
      <a:accent6>
        <a:srgbClr val="9FA4A5"/>
      </a:accent6>
      <a:hlink>
        <a:srgbClr val="8C9484"/>
      </a:hlink>
      <a:folHlink>
        <a:srgbClr val="C17957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 panose="02020502050305020303"/>
        <a:ea typeface=""/>
        <a:cs typeface=""/>
      </a:minorFont>
    </a:fontScheme>
    <a:fmtScheme name="Archway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" id="{15BC1FC9-F32C-4048-9052-439CED41F932}" vid="{4FF12325-B8E7-401C-AF33-78C72DDA2CB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3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4" baseType="lpstr">
      <vt:lpstr>Archway</vt:lpstr>
      <vt:lpstr>AI-Assisted Game Mashups</vt:lpstr>
      <vt:lpstr>What Is a Game Mashup?</vt:lpstr>
      <vt:lpstr>Example: Minecraft &amp; Elden 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61</cp:revision>
  <dcterms:created xsi:type="dcterms:W3CDTF">2026-10-19T22:57:07Z</dcterms:created>
  <dcterms:modified xsi:type="dcterms:W3CDTF">2026-10-19T23:17:32Z</dcterms:modified>
</cp:coreProperties>
</file>
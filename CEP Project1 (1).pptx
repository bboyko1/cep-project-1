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 id="259"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D88B4F-AF11-E7C5-86CE-E53BD8F3758A}" v="609" dt="2026-10-20T02:44:45.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
              </a:t>
            </a:r>
          </a:p>
        </p:txBody>
      </p:sp>
      <p:sp>
        <p:nvSpPr>
          <p:cNvPr id="10" name="Picture Placeholder 9">
            <a:extLst>
              <a:ext uri="{FF2B5EF4-FFF2-40B4-BE49-F238E27FC236}">
                <a16:creationId xmlns:a16="http://schemas.microsoft.com/office/drawing/2014/main" id="{884C280F-E753-FE97-A722-F86168AC97B1}"/>
              </a:ext>
            </a:extLst>
          </p:cNvPr>
          <p:cNvSpPr>
            <a:spLocks noGrp="1" noChangeAspect="1"/>
          </p:cNvSpPr>
          <p:nvPr>
            <p:ph type="pic" sz="quarter" idx="13" hasCustomPrompt="1"/>
          </p:nvPr>
        </p:nvSpPr>
        <p:spPr>
          <a:xfrm>
            <a:off x="841248" y="964074"/>
            <a:ext cx="5403280" cy="5258929"/>
          </a:xfrm>
          <a:custGeom>
            <a:avLst/>
            <a:gdLst/>
            <a:ahLst/>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chor="t">
            <a:noAutofit/>
          </a:bodyPr>
          <a:lstStyle>
            <a:lvl1pPr>
              <a:defRPr>
                <a:solidFill>
                  <a:schemeClr val="tx1"/>
                </a:solidFill>
              </a:defRPr>
            </a:lvl1pPr>
          </a:lstStyle>
          <a:p>
            <a:endParaRP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FigureOut">
              <a:rPr lang="en-US" dirty="0"/>
              <a:t>10/19/2026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dirty="0"/>
              <a:pPr/>
              <a:t>‹#›</a:t>
            </a:fld>
            <a:endParaRPr lang="en-US" dirty="0"/>
          </a:p>
        </p:txBody>
      </p:sp>
    </p:spTree>
    <p:extLst>
      <p:ext uri="{BB962C8B-B14F-4D97-AF65-F5344CB8AC3E}">
        <p14:creationId xmlns:p14="http://schemas.microsoft.com/office/powerpoint/2010/main" val="16402230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99353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
              </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FigureOut">
              <a:rPr lang="en-US" dirty="0"/>
              <a:t>10/19/2026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23692928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dirty="0"/>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
              </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FigureOut">
              <a:rPr lang="en-US" dirty="0"/>
              <a:t>10/19/2026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27578762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6108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ahLst/>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81848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Picture Placeholder 7">
            <a:extLst>
              <a:ext uri="{FF2B5EF4-FFF2-40B4-BE49-F238E27FC236}">
                <a16:creationId xmlns:a16="http://schemas.microsoft.com/office/drawing/2014/main" id="{4E5AAB3D-814D-597A-6ADE-F522A8116DCD}"/>
              </a:ext>
            </a:extLst>
          </p:cNvPr>
          <p:cNvSpPr>
            <a:spLocks noGrp="1" noChangeAspect="1"/>
          </p:cNvSpPr>
          <p:nvPr>
            <p:ph type="pic" idx="13" hasCustomPrompt="1"/>
          </p:nvPr>
        </p:nvSpPr>
        <p:spPr>
          <a:xfrm>
            <a:off x="1257301" y="1097280"/>
            <a:ext cx="3776470" cy="3168100"/>
          </a:xfrm>
          <a:custGeom>
            <a:avLst/>
            <a:gdLst/>
            <a:ahLst/>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chor="t">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dirty="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66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210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507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0" y="0"/>
            <a:ext cx="8326323" cy="6858000"/>
          </a:xfrm>
          <a:custGeom>
            <a:avLst/>
            <a:gdLst/>
            <a:ahLst/>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chor="t">
            <a:noAutofit/>
          </a:bodyPr>
          <a:lstStyle>
            <a:lvl1pPr marL="0" indent="0">
              <a:buFont typeface="Arial" panose="020B0604020202020204" pitchFamily="34" charset="0"/>
              <a:buNone/>
              <a:defRPr/>
            </a:lvl1pPr>
          </a:lstStyle>
          <a:p>
            <a:endParaRP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dirty="0"/>
              <a:t>
              </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FigureOut">
              <a:rPr lang="en-US" dirty="0"/>
              <a:pPr/>
              <a:t>10/19/2026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155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FigureOut">
              <a:rPr lang="en-US" dirty="0"/>
              <a:pPr/>
              <a:t>10/19/2026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dirty="0"/>
              <a:t>
              </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3249170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964464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2753557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132729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1820473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078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16" name="Picture Placeholder 15">
            <a:extLst>
              <a:ext uri="{FF2B5EF4-FFF2-40B4-BE49-F238E27FC236}">
                <a16:creationId xmlns:a16="http://schemas.microsoft.com/office/drawing/2014/main" id="{838F5DE0-1AA8-5320-EBEC-7B2EEF399630}"/>
              </a:ext>
            </a:extLst>
          </p:cNvPr>
          <p:cNvSpPr>
            <a:spLocks noGrp="1" noChangeAspect="1"/>
          </p:cNvSpPr>
          <p:nvPr>
            <p:ph type="pic" sz="quarter" idx="13" hasCustomPrompt="1"/>
          </p:nvPr>
        </p:nvSpPr>
        <p:spPr>
          <a:xfrm>
            <a:off x="731520" y="548642"/>
            <a:ext cx="3490175" cy="4041647"/>
          </a:xfrm>
          <a:custGeom>
            <a:avLst/>
            <a:gdLst/>
            <a:ahLst/>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chor="t">
            <a:noAutofit/>
          </a:bodyPr>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009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
              </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FigureOut">
              <a:rPr lang="en-US" dirty="0"/>
              <a:pPr/>
              <a:t>10/19/2026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13653"/>
            <a:ext cx="6533071" cy="5144347"/>
          </a:xfrm>
          <a:custGeom>
            <a:avLst/>
            <a:gdLst/>
            <a:ahLst/>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chor="t">
            <a:noAutofit/>
          </a:bodyPr>
          <a:lstStyle>
            <a:lvl1pPr marL="0" indent="0">
              <a:buFont typeface="Arial" panose="020B0604020202020204" pitchFamily="34" charset="0"/>
              <a:buNone/>
              <a:defRPr lang="en-US" dirty="0"/>
            </a:lvl1pPr>
          </a:lstStyle>
          <a:p>
            <a:pPr marL="285750" lvl="0" indent="-285750"/>
            <a:endParaRPr/>
          </a:p>
        </p:txBody>
      </p:sp>
    </p:spTree>
    <p:extLst>
      <p:ext uri="{BB962C8B-B14F-4D97-AF65-F5344CB8AC3E}">
        <p14:creationId xmlns:p14="http://schemas.microsoft.com/office/powerpoint/2010/main" val="2494727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000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FigureOut">
              <a:rPr lang="en-US" dirty="0"/>
              <a:pPr/>
              <a:t>10/19/2026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08900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0042016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69716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FigureOut">
              <a:rPr lang="en-US" dirty="0"/>
              <a:pPr/>
              <a:t>10/19/2026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5693039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FigureOut">
              <a:rPr lang="en-US" dirty="0"/>
              <a:pPr/>
              <a:t>10/19/2026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500317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FigureOut">
              <a:rPr lang="en-US" dirty="0"/>
              <a:pPr/>
              <a:t>10/19/2026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980347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167786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0141509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554554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dirty="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36704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x.com/i/trending/2104964358027542770?lang=en" TargetMode="Externa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b="1">
                <a:ea typeface="+mj-lt"/>
                <a:cs typeface="+mj-lt"/>
              </a:rPr>
              <a:t>AI-Assisted Game Mashups</a:t>
            </a:r>
            <a:endParaRPr lang="zh-CN">
              <a:ea typeface="+mj-lt"/>
              <a:cs typeface="+mj-lt"/>
            </a:endParaRPr>
          </a:p>
        </p:txBody>
      </p:sp>
      <p:sp>
        <p:nvSpPr>
          <p:cNvPr id="3" name="副标题 2"/>
          <p:cNvSpPr>
            <a:spLocks noGrp="1"/>
          </p:cNvSpPr>
          <p:nvPr>
            <p:ph type="subTitle" idx="1"/>
          </p:nvPr>
        </p:nvSpPr>
        <p:spPr/>
        <p:txBody>
          <a:bodyPr vert="horz" lIns="91440" tIns="45720" rIns="91440" bIns="45720" rtlCol="0" anchor="t">
            <a:normAutofit/>
          </a:bodyPr>
          <a:lstStyle/>
          <a:p>
            <a:r>
              <a:rPr lang="zh-CN" altLang="en-US"/>
              <a:t>By: Zidian, Jackie, B</a:t>
            </a:r>
          </a:p>
        </p:txBody>
      </p:sp>
    </p:spTree>
    <p:extLst>
      <p:ext uri="{BB962C8B-B14F-4D97-AF65-F5344CB8AC3E}">
        <p14:creationId xmlns:p14="http://schemas.microsoft.com/office/powerpoint/2010/main" val="70308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71A59A5-57FF-F0E1-459F-951F29FD86D0}"/>
              </a:ext>
            </a:extLst>
          </p:cNvPr>
          <p:cNvSpPr>
            <a:spLocks noGrp="1"/>
          </p:cNvSpPr>
          <p:nvPr>
            <p:ph type="title"/>
          </p:nvPr>
        </p:nvSpPr>
        <p:spPr>
          <a:xfrm>
            <a:off x="731520" y="548640"/>
            <a:ext cx="6135624" cy="1143000"/>
          </a:xfrm>
        </p:spPr>
        <p:txBody>
          <a:bodyPr/>
          <a:lstStyle/>
          <a:p>
            <a:r>
              <a:rPr lang="en-US" b="1">
                <a:ea typeface="+mj-lt"/>
                <a:cs typeface="+mj-lt"/>
              </a:rPr>
              <a:t>What Is a Game Mashup?</a:t>
            </a:r>
            <a:endParaRPr lang="zh-CN" altLang="en-US"/>
          </a:p>
        </p:txBody>
      </p:sp>
      <p:sp>
        <p:nvSpPr>
          <p:cNvPr id="13" name="Content Placeholder 2">
            <a:extLst>
              <a:ext uri="{FF2B5EF4-FFF2-40B4-BE49-F238E27FC236}">
                <a16:creationId xmlns:a16="http://schemas.microsoft.com/office/drawing/2014/main" id="{F1C033E7-D1F6-8EBD-56A9-399E4A490C40}"/>
              </a:ext>
            </a:extLst>
          </p:cNvPr>
          <p:cNvSpPr>
            <a:spLocks noGrp="1"/>
          </p:cNvSpPr>
          <p:nvPr>
            <p:ph sz="quarter" idx="14"/>
          </p:nvPr>
        </p:nvSpPr>
        <p:spPr>
          <a:xfrm>
            <a:off x="731520" y="1828800"/>
            <a:ext cx="6135624" cy="4489704"/>
          </a:xfrm>
        </p:spPr>
        <p:txBody>
          <a:bodyPr vert="horz" lIns="91440" tIns="45720" rIns="91440" bIns="45720" rtlCol="0" anchor="t">
            <a:normAutofit/>
          </a:bodyPr>
          <a:lstStyle/>
          <a:p>
            <a:r>
              <a:rPr lang="en-US" sz="2000"/>
              <a:t>A game mashup combines elements, gameplay from </a:t>
            </a:r>
            <a:r>
              <a:rPr lang="en-US" sz="2000" dirty="0"/>
              <a:t>two different games, allowing player using one's mechanic in another.</a:t>
            </a:r>
          </a:p>
        </p:txBody>
      </p:sp>
      <p:pic>
        <p:nvPicPr>
          <p:cNvPr id="7" name="图片占位符 6">
            <a:extLst>
              <a:ext uri="{FF2B5EF4-FFF2-40B4-BE49-F238E27FC236}">
                <a16:creationId xmlns:a16="http://schemas.microsoft.com/office/drawing/2014/main" id="{1DEE7BDC-7715-2B87-3444-69EC86FA5375}"/>
              </a:ext>
            </a:extLst>
          </p:cNvPr>
          <p:cNvPicPr>
            <a:picLocks noGrp="1" noChangeAspect="1"/>
          </p:cNvPicPr>
          <p:nvPr>
            <p:ph type="pic" sz="quarter" idx="13"/>
          </p:nvPr>
        </p:nvPicPr>
        <p:blipFill>
          <a:blip r:embed="rId2"/>
          <a:srcRect l="12467" r="12467"/>
          <a:stretch/>
        </p:blipFill>
        <p:spPr>
          <a:xfrm>
            <a:off x="7372159" y="-1742"/>
            <a:ext cx="4820346" cy="6861484"/>
          </a:xfrm>
          <a:prstGeom prst="rect">
            <a:avLst/>
          </a:prstGeom>
          <a:blipFill>
            <a:blip r:embed="rId3">
              <a:alphaModFix amt="70000"/>
              <a:extLst>
                <a:ext uri="{28A0092B-C50C-407E-A947-70E740481C1C}">
                  <a14:useLocalDpi xmlns:a14="http://schemas.microsoft.com/office/drawing/2010/main" val="0"/>
                </a:ext>
              </a:extLst>
            </a:blip>
            <a:stretch>
              <a:fillRect/>
            </a:stretch>
          </a:blipFill>
        </p:spPr>
      </p:pic>
      <p:sp>
        <p:nvSpPr>
          <p:cNvPr id="4" name="日期占位符 3">
            <a:extLst>
              <a:ext uri="{FF2B5EF4-FFF2-40B4-BE49-F238E27FC236}">
                <a16:creationId xmlns:a16="http://schemas.microsoft.com/office/drawing/2014/main" id="{9493EF18-DDFA-D4BC-C455-46BD65B167E2}"/>
              </a:ext>
            </a:extLst>
          </p:cNvPr>
          <p:cNvSpPr>
            <a:spLocks noGrp="1"/>
          </p:cNvSpPr>
          <p:nvPr>
            <p:ph type="dt" sz="half" idx="15"/>
          </p:nvPr>
        </p:nvSpPr>
        <p:spPr>
          <a:xfrm rot="5400000">
            <a:off x="-997745" y="4687095"/>
            <a:ext cx="2706690" cy="365125"/>
          </a:xfrm>
        </p:spPr>
        <p:txBody>
          <a:bodyPr anchor="ctr">
            <a:normAutofit/>
          </a:bodyPr>
          <a:lstStyle/>
          <a:p>
            <a:pPr>
              <a:spcAft>
                <a:spcPts val="600"/>
              </a:spcAft>
            </a:pPr>
            <a:fld id="{2D995CF1-F602-45E6-BAFC-F00AFA1529B4}" type="datetime1">
              <a:rPr lang="en-US"/>
              <a:pPr>
                <a:spcAft>
                  <a:spcPts val="600"/>
                </a:spcAft>
              </a:pPr>
              <a:t>10/19/2026</a:t>
            </a:fld>
            <a:endParaRPr lang="zh-CN" altLang="en-US"/>
          </a:p>
        </p:txBody>
      </p:sp>
      <p:sp>
        <p:nvSpPr>
          <p:cNvPr id="17" name="Footer Placeholder 5">
            <a:extLst>
              <a:ext uri="{FF2B5EF4-FFF2-40B4-BE49-F238E27FC236}">
                <a16:creationId xmlns:a16="http://schemas.microsoft.com/office/drawing/2014/main" id="{46FC9560-7FFC-934D-1B10-3BE9A66F6E52}"/>
              </a:ext>
            </a:extLst>
          </p:cNvPr>
          <p:cNvSpPr>
            <a:spLocks noGrp="1"/>
          </p:cNvSpPr>
          <p:nvPr>
            <p:ph type="ftr" sz="quarter" idx="16"/>
          </p:nvPr>
        </p:nvSpPr>
        <p:spPr>
          <a:xfrm rot="16200000">
            <a:off x="-1131161" y="1592957"/>
            <a:ext cx="2973522" cy="365125"/>
          </a:xfrm>
        </p:spPr>
        <p:txBody>
          <a:bodyPr/>
          <a:lstStyle/>
          <a:p>
            <a:pPr>
              <a:spcAft>
                <a:spcPts val="600"/>
              </a:spcAft>
            </a:pPr>
            <a:r>
              <a:rPr lang="en-US"/>
              <a:t>
              </a:t>
            </a:r>
          </a:p>
        </p:txBody>
      </p:sp>
      <p:sp>
        <p:nvSpPr>
          <p:cNvPr id="6" name="灯片编号占位符 5">
            <a:extLst>
              <a:ext uri="{FF2B5EF4-FFF2-40B4-BE49-F238E27FC236}">
                <a16:creationId xmlns:a16="http://schemas.microsoft.com/office/drawing/2014/main" id="{B7BD6E0C-F932-0657-6399-FC4D31F16001}"/>
              </a:ext>
            </a:extLst>
          </p:cNvPr>
          <p:cNvSpPr>
            <a:spLocks noGrp="1"/>
          </p:cNvSpPr>
          <p:nvPr>
            <p:ph type="sldNum" sz="quarter" idx="17"/>
          </p:nvPr>
        </p:nvSpPr>
        <p:spPr>
          <a:xfrm>
            <a:off x="51117" y="6356350"/>
            <a:ext cx="574620" cy="365125"/>
          </a:xfrm>
        </p:spPr>
        <p:txBody>
          <a:bodyPr anchor="ctr">
            <a:normAutofit/>
          </a:bodyPr>
          <a:lstStyle/>
          <a:p>
            <a:pPr>
              <a:spcAft>
                <a:spcPts val="600"/>
              </a:spcAft>
            </a:pPr>
            <a:fld id="{079CB688-378F-4534-BFFE-AF122467FDB7}" type="slidenum">
              <a:rPr lang="zh-CN" altLang="en-US" smtClean="0"/>
              <a:pPr>
                <a:spcAft>
                  <a:spcPts val="600"/>
                </a:spcAft>
              </a:pPr>
              <a:t>2</a:t>
            </a:fld>
            <a:endParaRPr lang="zh-CN" altLang="en-US"/>
          </a:p>
        </p:txBody>
      </p:sp>
    </p:spTree>
    <p:extLst>
      <p:ext uri="{BB962C8B-B14F-4D97-AF65-F5344CB8AC3E}">
        <p14:creationId xmlns:p14="http://schemas.microsoft.com/office/powerpoint/2010/main" val="12691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D565B-3694-0E1E-F7D4-5F20F30EF69E}"/>
              </a:ext>
            </a:extLst>
          </p:cNvPr>
          <p:cNvSpPr>
            <a:spLocks noGrp="1"/>
          </p:cNvSpPr>
          <p:nvPr>
            <p:ph type="title"/>
          </p:nvPr>
        </p:nvSpPr>
        <p:spPr/>
        <p:txBody>
          <a:bodyPr/>
          <a:lstStyle/>
          <a:p>
            <a:r>
              <a:rPr lang="zh-CN" b="1" dirty="0">
                <a:ea typeface="+mj-lt"/>
                <a:cs typeface="+mj-lt"/>
              </a:rPr>
              <a:t>Example: Minecraft</a:t>
            </a:r>
            <a:r>
              <a:rPr lang="zh-CN" altLang="en-US" b="1" dirty="0">
                <a:ea typeface="+mj-lt"/>
                <a:cs typeface="+mj-lt"/>
              </a:rPr>
              <a:t> </a:t>
            </a:r>
            <a:r>
              <a:rPr lang="en-US" altLang="zh-CN" b="1">
                <a:ea typeface="+mj-lt"/>
                <a:cs typeface="+mj-lt"/>
              </a:rPr>
              <a:t>&amp; Elden</a:t>
            </a:r>
            <a:r>
              <a:rPr lang="en-US" altLang="en-US" b="1" dirty="0">
                <a:ea typeface="+mj-lt"/>
                <a:cs typeface="+mj-lt"/>
              </a:rPr>
              <a:t> </a:t>
            </a:r>
            <a:r>
              <a:rPr lang="zh-CN" b="1" dirty="0">
                <a:ea typeface="+mj-lt"/>
                <a:cs typeface="+mj-lt"/>
              </a:rPr>
              <a:t>Ring</a:t>
            </a:r>
            <a:endParaRPr lang="zh-CN" dirty="0"/>
          </a:p>
        </p:txBody>
      </p:sp>
      <p:sp>
        <p:nvSpPr>
          <p:cNvPr id="3" name="内容占位符 2">
            <a:extLst>
              <a:ext uri="{FF2B5EF4-FFF2-40B4-BE49-F238E27FC236}">
                <a16:creationId xmlns:a16="http://schemas.microsoft.com/office/drawing/2014/main" id="{CF5B2575-E432-6C9C-13B7-4CC0DF404388}"/>
              </a:ext>
            </a:extLst>
          </p:cNvPr>
          <p:cNvSpPr>
            <a:spLocks noGrp="1"/>
          </p:cNvSpPr>
          <p:nvPr>
            <p:ph sz="quarter" idx="14"/>
          </p:nvPr>
        </p:nvSpPr>
        <p:spPr/>
        <p:txBody>
          <a:bodyPr vert="horz" lIns="91440" tIns="45720" rIns="91440" bIns="45720" rtlCol="0" anchor="t">
            <a:normAutofit/>
          </a:bodyPr>
          <a:lstStyle/>
          <a:p>
            <a:r>
              <a:rPr lang="zh-CN" altLang="en-US" sz="2000"/>
              <a:t>This starts to getting popluar recently when people found out you can use claude to backwarding old games, they realized they can merge two game together, so here it is Minecraft Ring, Tobny Jacobs under the help of claude, he made minecraft into an elden ring mod, the gameplay of minecraft into Elden ring's boss fight.</a:t>
            </a:r>
            <a:br>
              <a:rPr lang="zh-CN" altLang="en-US" sz="2000" dirty="0"/>
            </a:br>
            <a:r>
              <a:rPr lang="en-US" altLang="en-US" sz="2000" dirty="0">
                <a:hlinkClick r:id="rId2"/>
              </a:rPr>
              <a:t>https://x.com/i/trending/2104964358027542770?lang=en</a:t>
            </a:r>
            <a:endParaRPr lang="zh-CN" dirty="0"/>
          </a:p>
        </p:txBody>
      </p:sp>
      <p:pic>
        <p:nvPicPr>
          <p:cNvPr id="8" name="图片占位符 7">
            <a:extLst>
              <a:ext uri="{FF2B5EF4-FFF2-40B4-BE49-F238E27FC236}">
                <a16:creationId xmlns:a16="http://schemas.microsoft.com/office/drawing/2014/main" id="{41EDB882-1862-86AF-0811-ADAF3855C28E}"/>
              </a:ext>
            </a:extLst>
          </p:cNvPr>
          <p:cNvPicPr>
            <a:picLocks noGrp="1" noChangeAspect="1"/>
          </p:cNvPicPr>
          <p:nvPr>
            <p:ph type="pic" sz="quarter" idx="13"/>
          </p:nvPr>
        </p:nvPicPr>
        <p:blipFill>
          <a:blip r:embed="rId3"/>
          <a:srcRect l="14209" r="14209"/>
          <a:stretch/>
        </p:blipFill>
        <p:spPr>
          <a:xfrm>
            <a:off x="7379478" y="-1858"/>
            <a:ext cx="4815003" cy="6861716"/>
          </a:xfrm>
          <a:prstGeom prst="rect">
            <a:avLst/>
          </a:prstGeom>
          <a:blipFill>
            <a:blip r:embed="rId4">
              <a:alphaModFix amt="70000"/>
              <a:extLst>
                <a:ext uri="{28A0092B-C50C-407E-A947-70E740481C1C}">
                  <a14:useLocalDpi xmlns:a14="http://schemas.microsoft.com/office/drawing/2010/main" val="0"/>
                </a:ext>
              </a:extLst>
            </a:blip>
            <a:stretch>
              <a:fillRect/>
            </a:stretch>
          </a:blipFill>
        </p:spPr>
      </p:pic>
      <p:sp>
        <p:nvSpPr>
          <p:cNvPr id="5" name="日期占位符 4">
            <a:extLst>
              <a:ext uri="{FF2B5EF4-FFF2-40B4-BE49-F238E27FC236}">
                <a16:creationId xmlns:a16="http://schemas.microsoft.com/office/drawing/2014/main" id="{A603A570-C1FD-C38E-C890-5DD60BD77FD9}"/>
              </a:ext>
            </a:extLst>
          </p:cNvPr>
          <p:cNvSpPr>
            <a:spLocks noGrp="1"/>
          </p:cNvSpPr>
          <p:nvPr>
            <p:ph type="dt" sz="half" idx="15"/>
          </p:nvPr>
        </p:nvSpPr>
        <p:spPr/>
        <p:txBody>
          <a:bodyPr/>
          <a:lstStyle/>
          <a:p>
            <a:fld id="{46629CC3-DDA9-4E2E-ADEB-8833284B881E}" type="datetime1">
              <a:t>2026/10/19</a:t>
            </a:fld>
            <a:endParaRPr lang="en-US" dirty="0"/>
          </a:p>
        </p:txBody>
      </p:sp>
      <p:sp>
        <p:nvSpPr>
          <p:cNvPr id="6" name="页脚占位符 5">
            <a:extLst>
              <a:ext uri="{FF2B5EF4-FFF2-40B4-BE49-F238E27FC236}">
                <a16:creationId xmlns:a16="http://schemas.microsoft.com/office/drawing/2014/main" id="{038DA945-48A3-5B5D-3B50-46FB1BF5B4ED}"/>
              </a:ext>
            </a:extLst>
          </p:cNvPr>
          <p:cNvSpPr>
            <a:spLocks noGrp="1"/>
          </p:cNvSpPr>
          <p:nvPr>
            <p:ph type="ftr" sz="quarter" idx="16"/>
          </p:nvPr>
        </p:nvSpPr>
        <p:spPr/>
        <p:txBody>
          <a:bodyPr/>
          <a:lstStyle/>
          <a:p>
            <a:r>
              <a:rPr lang="en-US" dirty="0"/>
              <a:t>
              </a:t>
            </a:r>
          </a:p>
        </p:txBody>
      </p:sp>
      <p:sp>
        <p:nvSpPr>
          <p:cNvPr id="7" name="灯片编号占位符 6">
            <a:extLst>
              <a:ext uri="{FF2B5EF4-FFF2-40B4-BE49-F238E27FC236}">
                <a16:creationId xmlns:a16="http://schemas.microsoft.com/office/drawing/2014/main" id="{A46439FA-9170-80DA-7C38-00066E9D42BF}"/>
              </a:ext>
            </a:extLst>
          </p:cNvPr>
          <p:cNvSpPr>
            <a:spLocks noGrp="1"/>
          </p:cNvSpPr>
          <p:nvPr>
            <p:ph type="sldNum" sz="quarter" idx="17"/>
          </p:nvPr>
        </p:nvSpPr>
        <p:spPr/>
        <p:txBody>
          <a:bodyPr/>
          <a:lstStyle/>
          <a:p>
            <a:fld id="{2DE90F28-AFBB-4AB2-AA79-6D3F72ED131B}" type="slidenum">
              <a:rPr lang="en-US" dirty="0"/>
              <a:pPr/>
              <a:t>3</a:t>
            </a:fld>
            <a:endParaRPr lang="en-US" dirty="0"/>
          </a:p>
        </p:txBody>
      </p:sp>
    </p:spTree>
    <p:extLst>
      <p:ext uri="{BB962C8B-B14F-4D97-AF65-F5344CB8AC3E}">
        <p14:creationId xmlns:p14="http://schemas.microsoft.com/office/powerpoint/2010/main" val="4275945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0C3A3-54C9-A314-B35B-84CF13DE39A5}"/>
              </a:ext>
            </a:extLst>
          </p:cNvPr>
          <p:cNvSpPr>
            <a:spLocks noGrp="1"/>
          </p:cNvSpPr>
          <p:nvPr>
            <p:ph type="title"/>
          </p:nvPr>
        </p:nvSpPr>
        <p:spPr>
          <a:xfrm>
            <a:off x="731520" y="365760"/>
            <a:ext cx="10741152" cy="1132258"/>
          </a:xfrm>
        </p:spPr>
        <p:txBody>
          <a:bodyPr anchor="b">
            <a:normAutofit/>
          </a:bodyPr>
          <a:lstStyle/>
          <a:p>
            <a:r>
              <a:rPr lang="zh-CN" altLang="en-US"/>
              <a:t>How does it work?</a:t>
            </a:r>
          </a:p>
        </p:txBody>
      </p:sp>
      <p:sp>
        <p:nvSpPr>
          <p:cNvPr id="6" name="页脚占位符 5">
            <a:extLst>
              <a:ext uri="{FF2B5EF4-FFF2-40B4-BE49-F238E27FC236}">
                <a16:creationId xmlns:a16="http://schemas.microsoft.com/office/drawing/2014/main" id="{E98EEF62-6833-4941-8281-D99E885147AC}"/>
              </a:ext>
            </a:extLst>
          </p:cNvPr>
          <p:cNvSpPr>
            <a:spLocks noGrp="1"/>
          </p:cNvSpPr>
          <p:nvPr>
            <p:ph type="ftr" sz="quarter" idx="11"/>
          </p:nvPr>
        </p:nvSpPr>
        <p:spPr>
          <a:xfrm rot="16200000">
            <a:off x="-1131161" y="1592957"/>
            <a:ext cx="2973522" cy="365125"/>
          </a:xfrm>
        </p:spPr>
        <p:txBody>
          <a:bodyPr anchor="ctr">
            <a:normAutofit/>
          </a:bodyPr>
          <a:lstStyle/>
          <a:p>
            <a:pPr>
              <a:lnSpc>
                <a:spcPct val="90000"/>
              </a:lnSpc>
              <a:spcAft>
                <a:spcPts val="600"/>
              </a:spcAft>
            </a:pPr>
            <a:r>
              <a:rPr lang="en-US" sz="700"/>
              <a:t>
              </a:t>
            </a:r>
          </a:p>
        </p:txBody>
      </p:sp>
      <p:sp>
        <p:nvSpPr>
          <p:cNvPr id="3" name="内容占位符 2">
            <a:extLst>
              <a:ext uri="{FF2B5EF4-FFF2-40B4-BE49-F238E27FC236}">
                <a16:creationId xmlns:a16="http://schemas.microsoft.com/office/drawing/2014/main" id="{22CCE6BE-AB93-B6EF-F6A9-A68FC54E2C2A}"/>
              </a:ext>
            </a:extLst>
          </p:cNvPr>
          <p:cNvSpPr>
            <a:spLocks noGrp="1"/>
          </p:cNvSpPr>
          <p:nvPr>
            <p:ph idx="1"/>
          </p:nvPr>
        </p:nvSpPr>
        <p:spPr>
          <a:xfrm>
            <a:off x="731520" y="1658679"/>
            <a:ext cx="10780776" cy="4925000"/>
          </a:xfrm>
        </p:spPr>
        <p:txBody>
          <a:bodyPr vert="horz" lIns="91440" tIns="45720" rIns="91440" bIns="45720" rtlCol="0" anchor="t">
            <a:normAutofit/>
          </a:bodyPr>
          <a:lstStyle/>
          <a:p>
            <a:r>
              <a:rPr lang="zh-CN" altLang="en-US"/>
              <a:t>The most common way is: </a:t>
            </a:r>
            <a:r>
              <a:rPr lang="zh-CN" b="1"/>
              <a:t>The Bridge Method</a:t>
            </a:r>
            <a:endParaRPr lang="zh-CN"/>
          </a:p>
          <a:p>
            <a:r>
              <a:rPr lang="zh-CN" dirty="0"/>
              <a:t>Two original games run simultaneously in the background on your PC while communicating through shared memory to sync player positions, physics, and world hits</a:t>
            </a:r>
            <a:r>
              <a:rPr lang="en-US" altLang="zh-CN" dirty="0"/>
              <a:t>. (This is how Minecraft run inside Elden ring)</a:t>
            </a:r>
            <a:br>
              <a:rPr lang="en-US" altLang="zh-CN" dirty="0"/>
            </a:br>
            <a:r>
              <a:rPr lang="en-US" altLang="zh-CN" dirty="0"/>
              <a:t>It's doesn't has to be an AI to write the code in this way, buy AI is more efficient than human when it comes to "well known" ideas.</a:t>
            </a:r>
          </a:p>
        </p:txBody>
      </p:sp>
      <p:sp>
        <p:nvSpPr>
          <p:cNvPr id="5" name="日期占位符 4">
            <a:extLst>
              <a:ext uri="{FF2B5EF4-FFF2-40B4-BE49-F238E27FC236}">
                <a16:creationId xmlns:a16="http://schemas.microsoft.com/office/drawing/2014/main" id="{EE84C587-1D6F-7F17-A31E-554E02166BF1}"/>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00FCD2DC-5B13-4687-B869-006845A49443}" type="datetime1">
              <a:rPr lang="en-US"/>
              <a:pPr>
                <a:spcAft>
                  <a:spcPts val="600"/>
                </a:spcAft>
              </a:pPr>
              <a:t>10/19/2026</a:t>
            </a:fld>
            <a:endParaRPr lang="en-US"/>
          </a:p>
        </p:txBody>
      </p:sp>
      <p:sp>
        <p:nvSpPr>
          <p:cNvPr id="7" name="灯片编号占位符 6">
            <a:extLst>
              <a:ext uri="{FF2B5EF4-FFF2-40B4-BE49-F238E27FC236}">
                <a16:creationId xmlns:a16="http://schemas.microsoft.com/office/drawing/2014/main" id="{E80C0A1D-B98D-A01E-E526-D13BC11E5757}"/>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dirty="0"/>
              <a:pPr>
                <a:spcAft>
                  <a:spcPts val="600"/>
                </a:spcAft>
              </a:pPr>
              <a:t>4</a:t>
            </a:fld>
            <a:endParaRPr lang="en-US"/>
          </a:p>
        </p:txBody>
      </p:sp>
    </p:spTree>
    <p:extLst>
      <p:ext uri="{BB962C8B-B14F-4D97-AF65-F5344CB8AC3E}">
        <p14:creationId xmlns:p14="http://schemas.microsoft.com/office/powerpoint/2010/main" val="1326243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B77CA5-B706-5DE8-8C81-9B84477ED75F}"/>
              </a:ext>
            </a:extLst>
          </p:cNvPr>
          <p:cNvSpPr>
            <a:spLocks noGrp="1"/>
          </p:cNvSpPr>
          <p:nvPr>
            <p:ph type="title"/>
          </p:nvPr>
        </p:nvSpPr>
        <p:spPr/>
        <p:txBody>
          <a:bodyPr/>
          <a:lstStyle/>
          <a:p>
            <a:r>
              <a:rPr lang="zh-CN" altLang="en-US"/>
              <a:t>Why does it matter?</a:t>
            </a:r>
          </a:p>
        </p:txBody>
      </p:sp>
      <p:sp>
        <p:nvSpPr>
          <p:cNvPr id="3" name="内容占位符 2">
            <a:extLst>
              <a:ext uri="{FF2B5EF4-FFF2-40B4-BE49-F238E27FC236}">
                <a16:creationId xmlns:a16="http://schemas.microsoft.com/office/drawing/2014/main" id="{17094434-50D2-54D2-EEA8-2942724B3AFB}"/>
              </a:ext>
            </a:extLst>
          </p:cNvPr>
          <p:cNvSpPr>
            <a:spLocks noGrp="1"/>
          </p:cNvSpPr>
          <p:nvPr>
            <p:ph sz="quarter" idx="14"/>
          </p:nvPr>
        </p:nvSpPr>
        <p:spPr/>
        <p:txBody>
          <a:bodyPr vert="horz" lIns="91440" tIns="45720" rIns="91440" bIns="45720" rtlCol="0" anchor="t">
            <a:normAutofit/>
          </a:bodyPr>
          <a:lstStyle/>
          <a:p>
            <a:pPr marL="285750" indent="-285750">
              <a:buFont typeface="Arial"/>
              <a:buChar char="•"/>
            </a:pPr>
            <a:r>
              <a:rPr lang="zh-CN" dirty="0">
                <a:ea typeface="+mn-lt"/>
                <a:cs typeface="+mn-lt"/>
              </a:rPr>
              <a:t>AI </a:t>
            </a:r>
            <a:r>
              <a:rPr lang="en-US" altLang="zh-CN" dirty="0">
                <a:ea typeface="+mn-lt"/>
                <a:cs typeface="+mn-lt"/>
              </a:rPr>
              <a:t>vibe</a:t>
            </a:r>
            <a:r>
              <a:rPr lang="zh-CN" altLang="en-US" dirty="0">
                <a:ea typeface="+mn-lt"/>
                <a:cs typeface="+mn-lt"/>
              </a:rPr>
              <a:t> </a:t>
            </a:r>
            <a:r>
              <a:rPr lang="zh-CN" dirty="0">
                <a:ea typeface="+mn-lt"/>
                <a:cs typeface="+mn-lt"/>
              </a:rPr>
              <a:t>coding may help small teams t</a:t>
            </a:r>
            <a:r>
              <a:rPr lang="en-US" altLang="zh-CN" dirty="0">
                <a:ea typeface="+mn-lt"/>
                <a:cs typeface="+mn-lt"/>
              </a:rPr>
              <a:t>o</a:t>
            </a:r>
            <a:r>
              <a:rPr lang="zh-CN" dirty="0">
                <a:ea typeface="+mn-lt"/>
                <a:cs typeface="+mn-lt"/>
              </a:rPr>
              <a:t> </a:t>
            </a:r>
            <a:r>
              <a:rPr lang="en-US" altLang="zh-CN" dirty="0">
                <a:ea typeface="+mn-lt"/>
                <a:cs typeface="+mn-lt"/>
              </a:rPr>
              <a:t>b</a:t>
            </a:r>
            <a:r>
              <a:rPr lang="zh-CN" dirty="0">
                <a:ea typeface="+mn-lt"/>
                <a:cs typeface="+mn-lt"/>
              </a:rPr>
              <a:t>e </a:t>
            </a:r>
            <a:r>
              <a:rPr lang="en-US" altLang="zh-CN" dirty="0">
                <a:ea typeface="+mn-lt"/>
                <a:cs typeface="+mn-lt"/>
              </a:rPr>
              <a:t>more</a:t>
            </a:r>
            <a:r>
              <a:rPr lang="zh-CN" dirty="0">
                <a:ea typeface="+mn-lt"/>
                <a:cs typeface="+mn-lt"/>
              </a:rPr>
              <a:t> e</a:t>
            </a:r>
            <a:r>
              <a:rPr lang="en-US" altLang="zh-CN" dirty="0" err="1">
                <a:ea typeface="+mn-lt"/>
                <a:cs typeface="+mn-lt"/>
              </a:rPr>
              <a:t>fficient</a:t>
            </a:r>
            <a:r>
              <a:rPr lang="en-US" altLang="zh-CN" dirty="0">
                <a:ea typeface="+mn-lt"/>
                <a:cs typeface="+mn-lt"/>
              </a:rPr>
              <a:t> not just mashup games.</a:t>
            </a:r>
            <a:endParaRPr lang="zh-CN" altLang="en-US" dirty="0"/>
          </a:p>
          <a:p>
            <a:pPr marL="285750" indent="-285750">
              <a:buFont typeface="Arial"/>
              <a:buChar char="•"/>
            </a:pPr>
            <a:r>
              <a:rPr lang="en-US" altLang="zh-CN">
                <a:ea typeface="+mn-lt"/>
                <a:cs typeface="+mn-lt"/>
              </a:rPr>
              <a:t>M</a:t>
            </a:r>
            <a:r>
              <a:rPr lang="zh-CN">
                <a:ea typeface="+mn-lt"/>
                <a:cs typeface="+mn-lt"/>
              </a:rPr>
              <a:t>ashups can</a:t>
            </a:r>
            <a:r>
              <a:rPr lang="zh-CN" altLang="en-US" dirty="0">
                <a:ea typeface="+mn-lt"/>
                <a:cs typeface="+mn-lt"/>
              </a:rPr>
              <a:t> </a:t>
            </a:r>
            <a:r>
              <a:rPr lang="zh-CN">
                <a:ea typeface="+mn-lt"/>
                <a:cs typeface="+mn-lt"/>
              </a:rPr>
              <a:t>offer a way to experiment with new gameplay ideas.</a:t>
            </a:r>
            <a:endParaRPr lang="zh-CN"/>
          </a:p>
          <a:p>
            <a:pPr marL="285750" indent="-285750">
              <a:buFont typeface="Arial"/>
              <a:buChar char="•"/>
            </a:pPr>
            <a:r>
              <a:rPr lang="zh-CN">
                <a:ea typeface="+mn-lt"/>
                <a:cs typeface="+mn-lt"/>
              </a:rPr>
              <a:t>Compatibility and testing remain major challenges</a:t>
            </a:r>
            <a:r>
              <a:rPr lang="en-US" altLang="zh-CN">
                <a:ea typeface="+mn-lt"/>
                <a:cs typeface="+mn-lt"/>
              </a:rPr>
              <a:t>,</a:t>
            </a:r>
            <a:r>
              <a:rPr lang="zh-CN" altLang="en-US" dirty="0">
                <a:ea typeface="+mn-lt"/>
                <a:cs typeface="+mn-lt"/>
              </a:rPr>
              <a:t> </a:t>
            </a:r>
            <a:r>
              <a:rPr lang="en-US" altLang="zh-CN">
                <a:ea typeface="+mn-lt"/>
                <a:cs typeface="+mn-lt"/>
              </a:rPr>
              <a:t>B</a:t>
            </a:r>
            <a:r>
              <a:rPr lang="zh-CN">
                <a:ea typeface="+mn-lt"/>
                <a:cs typeface="+mn-lt"/>
              </a:rPr>
              <a:t>u</a:t>
            </a:r>
            <a:r>
              <a:rPr lang="en-US" altLang="zh-CN">
                <a:ea typeface="+mn-lt"/>
                <a:cs typeface="+mn-lt"/>
              </a:rPr>
              <a:t>t</a:t>
            </a:r>
            <a:r>
              <a:rPr lang="zh-CN" dirty="0">
                <a:ea typeface="+mn-lt"/>
                <a:cs typeface="+mn-lt"/>
              </a:rPr>
              <a:t> </a:t>
            </a:r>
            <a:r>
              <a:rPr lang="en-US" altLang="zh-CN">
                <a:ea typeface="+mn-lt"/>
                <a:cs typeface="+mn-lt"/>
              </a:rPr>
              <a:t>this</a:t>
            </a:r>
            <a:r>
              <a:rPr lang="zh-CN" dirty="0">
                <a:ea typeface="+mn-lt"/>
                <a:cs typeface="+mn-lt"/>
              </a:rPr>
              <a:t> </a:t>
            </a:r>
            <a:r>
              <a:rPr lang="en-US" altLang="zh-CN">
                <a:ea typeface="+mn-lt"/>
                <a:cs typeface="+mn-lt"/>
              </a:rPr>
              <a:t>can</a:t>
            </a:r>
            <a:r>
              <a:rPr lang="zh-CN">
                <a:ea typeface="+mn-lt"/>
                <a:cs typeface="+mn-lt"/>
              </a:rPr>
              <a:t> b</a:t>
            </a:r>
            <a:r>
              <a:rPr lang="en-US" altLang="zh-CN">
                <a:ea typeface="+mn-lt"/>
                <a:cs typeface="+mn-lt"/>
              </a:rPr>
              <a:t>e</a:t>
            </a:r>
            <a:r>
              <a:rPr lang="zh-CN" altLang="en-US">
                <a:ea typeface="+mn-lt"/>
                <a:cs typeface="+mn-lt"/>
              </a:rPr>
              <a:t> reduced alot when AI steps in to help debugging</a:t>
            </a:r>
            <a:endParaRPr lang="zh-CN" altLang="en-US"/>
          </a:p>
          <a:p>
            <a:endParaRPr lang="zh-CN" altLang="en-US" dirty="0"/>
          </a:p>
        </p:txBody>
      </p:sp>
      <p:pic>
        <p:nvPicPr>
          <p:cNvPr id="8" name="图片占位符 7" descr="屏幕上有字&#10;&#10;AI 生成的内容可能不正确。">
            <a:extLst>
              <a:ext uri="{FF2B5EF4-FFF2-40B4-BE49-F238E27FC236}">
                <a16:creationId xmlns:a16="http://schemas.microsoft.com/office/drawing/2014/main" id="{6BC15CBF-A33B-65F6-894B-2C2FAC65411F}"/>
              </a:ext>
            </a:extLst>
          </p:cNvPr>
          <p:cNvPicPr>
            <a:picLocks noGrp="1" noChangeAspect="1"/>
          </p:cNvPicPr>
          <p:nvPr>
            <p:ph type="pic" sz="quarter" idx="13"/>
          </p:nvPr>
        </p:nvPicPr>
        <p:blipFill>
          <a:blip r:embed="rId2"/>
          <a:srcRect t="2171" b="2171"/>
          <a:stretch/>
        </p:blipFill>
        <p:spPr>
          <a:xfrm>
            <a:off x="7391738" y="1587"/>
            <a:ext cx="4798482" cy="6854825"/>
          </a:xfrm>
          <a:prstGeom prst="rect">
            <a:avLst/>
          </a:prstGeom>
          <a:blipFill>
            <a:blip r:embed="rId3">
              <a:alphaModFix amt="70000"/>
              <a:extLst>
                <a:ext uri="{28A0092B-C50C-407E-A947-70E740481C1C}">
                  <a14:useLocalDpi xmlns:a14="http://schemas.microsoft.com/office/drawing/2010/main" val="0"/>
                </a:ext>
              </a:extLst>
            </a:blip>
            <a:stretch>
              <a:fillRect/>
            </a:stretch>
          </a:blipFill>
        </p:spPr>
      </p:pic>
      <p:sp>
        <p:nvSpPr>
          <p:cNvPr id="5" name="日期占位符 4">
            <a:extLst>
              <a:ext uri="{FF2B5EF4-FFF2-40B4-BE49-F238E27FC236}">
                <a16:creationId xmlns:a16="http://schemas.microsoft.com/office/drawing/2014/main" id="{146ABDA1-5FC5-39B5-176B-26CC9BFF2CEE}"/>
              </a:ext>
            </a:extLst>
          </p:cNvPr>
          <p:cNvSpPr>
            <a:spLocks noGrp="1"/>
          </p:cNvSpPr>
          <p:nvPr>
            <p:ph type="dt" sz="half" idx="15"/>
          </p:nvPr>
        </p:nvSpPr>
        <p:spPr/>
        <p:txBody>
          <a:bodyPr/>
          <a:lstStyle/>
          <a:p>
            <a:fld id="{49F5C17A-3406-4CD5-9D32-1E98A54E38BD}" type="datetime1">
              <a:t>10/19/2026</a:t>
            </a:fld>
            <a:endParaRPr lang="en-US" dirty="0"/>
          </a:p>
        </p:txBody>
      </p:sp>
      <p:sp>
        <p:nvSpPr>
          <p:cNvPr id="6" name="页脚占位符 5">
            <a:extLst>
              <a:ext uri="{FF2B5EF4-FFF2-40B4-BE49-F238E27FC236}">
                <a16:creationId xmlns:a16="http://schemas.microsoft.com/office/drawing/2014/main" id="{AE795172-C157-7774-D8C5-5AF97EA26743}"/>
              </a:ext>
            </a:extLst>
          </p:cNvPr>
          <p:cNvSpPr>
            <a:spLocks noGrp="1"/>
          </p:cNvSpPr>
          <p:nvPr>
            <p:ph type="ftr" sz="quarter" idx="16"/>
          </p:nvPr>
        </p:nvSpPr>
        <p:spPr/>
        <p:txBody>
          <a:bodyPr/>
          <a:lstStyle/>
          <a:p>
            <a:r>
              <a:rPr lang="en-US" dirty="0"/>
              <a:t>
              </a:t>
            </a:r>
          </a:p>
        </p:txBody>
      </p:sp>
      <p:sp>
        <p:nvSpPr>
          <p:cNvPr id="7" name="灯片编号占位符 6">
            <a:extLst>
              <a:ext uri="{FF2B5EF4-FFF2-40B4-BE49-F238E27FC236}">
                <a16:creationId xmlns:a16="http://schemas.microsoft.com/office/drawing/2014/main" id="{8BC62215-D816-1966-2071-89E85A666198}"/>
              </a:ext>
            </a:extLst>
          </p:cNvPr>
          <p:cNvSpPr>
            <a:spLocks noGrp="1"/>
          </p:cNvSpPr>
          <p:nvPr>
            <p:ph type="sldNum" sz="quarter" idx="17"/>
          </p:nvPr>
        </p:nvSpPr>
        <p:spPr/>
        <p:txBody>
          <a:bodyPr/>
          <a:lstStyle/>
          <a:p>
            <a:fld id="{2DE90F28-AFBB-4AB2-AA79-6D3F72ED131B}" type="slidenum">
              <a:rPr lang="en-US" dirty="0"/>
              <a:pPr/>
              <a:t>5</a:t>
            </a:fld>
            <a:endParaRPr lang="en-US" dirty="0"/>
          </a:p>
        </p:txBody>
      </p:sp>
    </p:spTree>
    <p:extLst>
      <p:ext uri="{BB962C8B-B14F-4D97-AF65-F5344CB8AC3E}">
        <p14:creationId xmlns:p14="http://schemas.microsoft.com/office/powerpoint/2010/main" val="2630827895"/>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panose="02020502050305020303"/>
        <a:ea typeface=""/>
        <a:cs typeface=""/>
      </a:minorFont>
    </a:fontScheme>
    <a:fmtScheme name="Archway">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15BC1FC9-F32C-4048-9052-439CED41F932}" vid="{4FF12325-B8E7-401C-AF33-78C72DDA2CB7}"/>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宽屏</PresentationFormat>
  <Paragraphs>0</Paragraphs>
  <Slides>5</Slides>
  <Notes>0</Notes>
  <HiddenSlides>0</HiddenSlides>
  <MMClips>0</MMClips>
  <ScaleCrop>false</ScaleCrop>
  <HeadingPairs>
    <vt:vector size="4" baseType="variant">
      <vt:variant>
        <vt:lpstr>主题</vt:lpstr>
      </vt:variant>
      <vt:variant>
        <vt:i4>1</vt:i4>
      </vt:variant>
      <vt:variant>
        <vt:lpstr>幻灯片标题</vt:lpstr>
      </vt:variant>
      <vt:variant>
        <vt:i4>5</vt:i4>
      </vt:variant>
    </vt:vector>
  </HeadingPairs>
  <TitlesOfParts>
    <vt:vector size="6" baseType="lpstr">
      <vt:lpstr>Archway</vt:lpstr>
      <vt:lpstr>AI-Assisted Game Mashups</vt:lpstr>
      <vt:lpstr>What Is a Game Mashup?</vt:lpstr>
      <vt:lpstr>Example: Minecraft &amp; Elden Ring</vt:lpstr>
      <vt:lpstr>How does it work?</vt:lpstr>
      <vt:lpstr>Why does it matter?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152</cp:revision>
  <dcterms:created xsi:type="dcterms:W3CDTF">2026-10-19T22:57:07Z</dcterms:created>
  <dcterms:modified xsi:type="dcterms:W3CDTF">2026-10-20T02:47:03Z</dcterms:modified>
</cp:coreProperties>
</file>